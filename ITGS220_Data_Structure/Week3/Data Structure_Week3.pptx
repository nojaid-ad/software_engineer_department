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gAxwsrY9pc3wQIKKJSpVtUuN10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LY"/>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LY"/>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LY"/>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LY"/>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LY"/>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LY"/>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LY"/>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LY"/>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p:nvPr>
            <p:ph idx="2" type="pic"/>
          </p:nvPr>
        </p:nvSpPr>
        <p:spPr>
          <a:xfrm>
            <a:off x="5183188" y="987425"/>
            <a:ext cx="6172200" cy="4873625"/>
          </a:xfrm>
          <a:prstGeom prst="rect">
            <a:avLst/>
          </a:prstGeom>
          <a:noFill/>
          <a:ln>
            <a:noFill/>
          </a:ln>
        </p:spPr>
      </p:sp>
      <p:sp>
        <p:nvSpPr>
          <p:cNvPr id="64" name="Google Shape;64;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LY"/>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LY"/>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LY"/>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ar-LY"/>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85" name="Google Shape;85;p1"/>
          <p:cNvPicPr preferRelativeResize="0"/>
          <p:nvPr/>
        </p:nvPicPr>
        <p:blipFill rotWithShape="1">
          <a:blip r:embed="rId3">
            <a:alphaModFix/>
          </a:blip>
          <a:srcRect b="0" l="12229" r="0" t="0"/>
          <a:stretch/>
        </p:blipFill>
        <p:spPr>
          <a:xfrm>
            <a:off x="2522358" y="10"/>
            <a:ext cx="9669642" cy="6857990"/>
          </a:xfrm>
          <a:prstGeom prst="rect">
            <a:avLst/>
          </a:prstGeom>
          <a:noFill/>
          <a:ln>
            <a:noFill/>
          </a:ln>
        </p:spPr>
      </p:pic>
      <p:sp>
        <p:nvSpPr>
          <p:cNvPr id="86" name="Google Shape;86;p1"/>
          <p:cNvSpPr/>
          <p:nvPr/>
        </p:nvSpPr>
        <p:spPr>
          <a:xfrm>
            <a:off x="0" y="0"/>
            <a:ext cx="7066978" cy="6858000"/>
          </a:xfrm>
          <a:prstGeom prst="rect">
            <a:avLst/>
          </a:prstGeom>
          <a:gradFill>
            <a:gsLst>
              <a:gs pos="0">
                <a:srgbClr val="FFFFFF">
                  <a:alpha val="0"/>
                </a:srgbClr>
              </a:gs>
              <a:gs pos="19000">
                <a:srgbClr val="FFFFFF">
                  <a:alpha val="37647"/>
                </a:srgbClr>
              </a:gs>
              <a:gs pos="35000">
                <a:srgbClr val="FFFFFF">
                  <a:alpha val="76862"/>
                </a:srgbClr>
              </a:gs>
              <a:gs pos="48000">
                <a:schemeClr val="lt1"/>
              </a:gs>
              <a:gs pos="100000">
                <a:schemeClr val="lt1"/>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7" name="Google Shape;87;p1"/>
          <p:cNvSpPr txBox="1"/>
          <p:nvPr>
            <p:ph type="ctrTitle"/>
          </p:nvPr>
        </p:nvSpPr>
        <p:spPr>
          <a:xfrm>
            <a:off x="952228" y="743447"/>
            <a:ext cx="3973385" cy="369202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200"/>
              <a:buFont typeface="Calibri"/>
              <a:buNone/>
            </a:pPr>
            <a:r>
              <a:rPr lang="ar-LY" sz="5200"/>
              <a:t>Data Structure </a:t>
            </a:r>
            <a:endParaRPr/>
          </a:p>
        </p:txBody>
      </p:sp>
      <p:sp>
        <p:nvSpPr>
          <p:cNvPr id="88" name="Google Shape;88;p1"/>
          <p:cNvSpPr txBox="1"/>
          <p:nvPr>
            <p:ph idx="1" type="subTitle"/>
          </p:nvPr>
        </p:nvSpPr>
        <p:spPr>
          <a:xfrm>
            <a:off x="952229" y="4629234"/>
            <a:ext cx="3973386" cy="148531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ar-LY"/>
              <a:t>Week3</a:t>
            </a:r>
            <a:endParaRPr/>
          </a:p>
          <a:p>
            <a:pPr indent="0" lvl="0" marL="0" rtl="0" algn="l">
              <a:lnSpc>
                <a:spcPct val="90000"/>
              </a:lnSpc>
              <a:spcBef>
                <a:spcPts val="1000"/>
              </a:spcBef>
              <a:spcAft>
                <a:spcPts val="0"/>
              </a:spcAft>
              <a:buClr>
                <a:schemeClr val="dk1"/>
              </a:buClr>
              <a:buSzPts val="2400"/>
              <a:buNone/>
            </a:pPr>
            <a:r>
              <a:rPr lang="ar-LY"/>
              <a:t>Stacks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000"/>
                                  </p:stCondLst>
                                  <p:childTnLst>
                                    <p:set>
                                      <p:cBhvr>
                                        <p:cTn dur="1" fill="hold">
                                          <p:stCondLst>
                                            <p:cond delay="0"/>
                                          </p:stCondLst>
                                        </p:cTn>
                                        <p:tgtEl>
                                          <p:spTgt spid="88">
                                            <p:txEl>
                                              <p:pRg end="0" st="0"/>
                                            </p:txEl>
                                          </p:spTgt>
                                        </p:tgtEl>
                                        <p:attrNameLst>
                                          <p:attrName>style.visibility</p:attrName>
                                        </p:attrNameLst>
                                      </p:cBhvr>
                                      <p:to>
                                        <p:strVal val="visible"/>
                                      </p:to>
                                    </p:set>
                                    <p:animEffect filter="fade" transition="in">
                                      <p:cBhvr>
                                        <p:cTn dur="400"/>
                                        <p:tgtEl>
                                          <p:spTgt spid="88">
                                            <p:txEl>
                                              <p:pRg end="0" st="0"/>
                                            </p:txEl>
                                          </p:spTgt>
                                        </p:tgtEl>
                                      </p:cBhvr>
                                    </p:animEffect>
                                  </p:childTnLst>
                                </p:cTn>
                              </p:par>
                              <p:par>
                                <p:cTn fill="hold" nodeType="withEffect" presetClass="entr" presetID="10" presetSubtype="0">
                                  <p:stCondLst>
                                    <p:cond delay="2000"/>
                                  </p:stCondLst>
                                  <p:childTnLst>
                                    <p:set>
                                      <p:cBhvr>
                                        <p:cTn dur="1" fill="hold">
                                          <p:stCondLst>
                                            <p:cond delay="0"/>
                                          </p:stCondLst>
                                        </p:cTn>
                                        <p:tgtEl>
                                          <p:spTgt spid="88">
                                            <p:txEl>
                                              <p:pRg end="1" st="1"/>
                                            </p:txEl>
                                          </p:spTgt>
                                        </p:tgtEl>
                                        <p:attrNameLst>
                                          <p:attrName>style.visibility</p:attrName>
                                        </p:attrNameLst>
                                      </p:cBhvr>
                                      <p:to>
                                        <p:strVal val="visible"/>
                                      </p:to>
                                    </p:set>
                                    <p:animEffect filter="fade" transition="in">
                                      <p:cBhvr>
                                        <p:cTn dur="400"/>
                                        <p:tgtEl>
                                          <p:spTgt spid="88">
                                            <p:txEl>
                                              <p:pRg end="1" st="1"/>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87"/>
                                        </p:tgtEl>
                                        <p:attrNameLst>
                                          <p:attrName>style.visibility</p:attrName>
                                        </p:attrNameLst>
                                      </p:cBhvr>
                                      <p:to>
                                        <p:strVal val="visible"/>
                                      </p:to>
                                    </p:set>
                                    <p:animEffect filter="fade" transition="in">
                                      <p:cBhvr>
                                        <p:cTn dur="400"/>
                                        <p:tgtEl>
                                          <p:spTgt spid="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sp>
        <p:nvSpPr>
          <p:cNvPr id="93" name="Google Shape;93;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 name="Google Shape;94;p2"/>
          <p:cNvSpPr txBox="1"/>
          <p:nvPr>
            <p:ph type="title"/>
          </p:nvPr>
        </p:nvSpPr>
        <p:spPr>
          <a:xfrm>
            <a:off x="5080216" y="1076324"/>
            <a:ext cx="6272784" cy="153505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200"/>
              <a:buFont typeface="Arial"/>
              <a:buNone/>
            </a:pPr>
            <a:r>
              <a:rPr b="0" i="0" lang="ar-LY" sz="5200">
                <a:latin typeface="Arial"/>
                <a:ea typeface="Arial"/>
                <a:cs typeface="Arial"/>
                <a:sym typeface="Arial"/>
              </a:rPr>
              <a:t>Stacks</a:t>
            </a:r>
            <a:br>
              <a:rPr b="0" i="0" lang="ar-LY" sz="5200">
                <a:latin typeface="Arial"/>
                <a:ea typeface="Arial"/>
                <a:cs typeface="Arial"/>
                <a:sym typeface="Arial"/>
              </a:rPr>
            </a:br>
            <a:endParaRPr sz="5200"/>
          </a:p>
        </p:txBody>
      </p:sp>
      <p:pic>
        <p:nvPicPr>
          <p:cNvPr descr="A screenshot of a computer&#10;&#10;Description automatically generated" id="95" name="Google Shape;95;p2"/>
          <p:cNvPicPr preferRelativeResize="0"/>
          <p:nvPr/>
        </p:nvPicPr>
        <p:blipFill rotWithShape="1">
          <a:blip r:embed="rId3">
            <a:alphaModFix/>
          </a:blip>
          <a:srcRect b="1505" l="0" r="0" t="0"/>
          <a:stretch/>
        </p:blipFill>
        <p:spPr>
          <a:xfrm>
            <a:off x="-14048" y="585216"/>
            <a:ext cx="4505305" cy="611804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96" name="Google Shape;96;p2"/>
          <p:cNvSpPr/>
          <p:nvPr/>
        </p:nvSpPr>
        <p:spPr>
          <a:xfrm rot="5400000">
            <a:off x="5317960" y="363389"/>
            <a:ext cx="73152" cy="548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 name="Google Shape;97;p2"/>
          <p:cNvSpPr/>
          <p:nvPr/>
        </p:nvSpPr>
        <p:spPr>
          <a:xfrm>
            <a:off x="5099266" y="2935541"/>
            <a:ext cx="621792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98" name="Google Shape;98;p2"/>
          <p:cNvGrpSpPr/>
          <p:nvPr/>
        </p:nvGrpSpPr>
        <p:grpSpPr>
          <a:xfrm>
            <a:off x="5080216" y="3586019"/>
            <a:ext cx="6272784" cy="2356200"/>
            <a:chOff x="0" y="234743"/>
            <a:chExt cx="6272784" cy="2356200"/>
          </a:xfrm>
        </p:grpSpPr>
        <p:sp>
          <p:nvSpPr>
            <p:cNvPr id="99" name="Google Shape;99;p2"/>
            <p:cNvSpPr/>
            <p:nvPr/>
          </p:nvSpPr>
          <p:spPr>
            <a:xfrm>
              <a:off x="0" y="234743"/>
              <a:ext cx="6272784" cy="1153620"/>
            </a:xfrm>
            <a:prstGeom prst="roundRect">
              <a:avLst>
                <a:gd fmla="val 16667" name="adj"/>
              </a:avLst>
            </a:prstGeom>
            <a:solidFill>
              <a:schemeClr val="lt1"/>
            </a:solidFill>
            <a:ln cap="flat" cmpd="sng" w="12700">
              <a:solidFill>
                <a:srgbClr val="528CB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txBox="1"/>
            <p:nvPr/>
          </p:nvSpPr>
          <p:spPr>
            <a:xfrm>
              <a:off x="56315" y="291058"/>
              <a:ext cx="6160154" cy="1040990"/>
            </a:xfrm>
            <a:prstGeom prst="rect">
              <a:avLst/>
            </a:prstGeom>
            <a:noFill/>
            <a:ln>
              <a:noFill/>
            </a:ln>
          </p:spPr>
          <p:txBody>
            <a:bodyPr anchorCtr="0" anchor="ctr" bIns="64750" lIns="64750" spcFirstLastPara="1" rIns="64750" wrap="square" tIns="64750">
              <a:noAutofit/>
            </a:bodyPr>
            <a:lstStyle/>
            <a:p>
              <a:pPr indent="0" lvl="0" marL="0" marR="0" rtl="1" algn="r">
                <a:lnSpc>
                  <a:spcPct val="90000"/>
                </a:lnSpc>
                <a:spcBef>
                  <a:spcPts val="0"/>
                </a:spcBef>
                <a:spcAft>
                  <a:spcPts val="0"/>
                </a:spcAft>
                <a:buClr>
                  <a:schemeClr val="lt1"/>
                </a:buClr>
                <a:buSzPts val="1700"/>
                <a:buFont typeface="Calibri"/>
                <a:buNone/>
              </a:pPr>
              <a:r>
                <a:rPr b="0" i="0" lang="ar-LY" sz="1700" u="none" cap="none" strike="noStrike">
                  <a:solidFill>
                    <a:schemeClr val="lt1"/>
                  </a:solidFill>
                  <a:latin typeface="Calibri"/>
                  <a:ea typeface="Calibri"/>
                  <a:cs typeface="Calibri"/>
                  <a:sym typeface="Calibri"/>
                </a:rPr>
                <a:t>هي نوع من أنواع الهياكل البيانية الخطية التي تتبع مبدأ "الأخير يدخل أولاً“</a:t>
              </a:r>
              <a:endParaRPr b="0" i="0" sz="1700" u="none" cap="none" strike="noStrike">
                <a:solidFill>
                  <a:schemeClr val="lt1"/>
                </a:solidFill>
                <a:latin typeface="Calibri"/>
                <a:ea typeface="Calibri"/>
                <a:cs typeface="Calibri"/>
                <a:sym typeface="Calibri"/>
              </a:endParaRPr>
            </a:p>
            <a:p>
              <a:pPr indent="0" lvl="0" marL="0" marR="0" rtl="1" algn="r">
                <a:lnSpc>
                  <a:spcPct val="90000"/>
                </a:lnSpc>
                <a:spcBef>
                  <a:spcPts val="595"/>
                </a:spcBef>
                <a:spcAft>
                  <a:spcPts val="0"/>
                </a:spcAft>
                <a:buClr>
                  <a:schemeClr val="lt1"/>
                </a:buClr>
                <a:buSzPts val="1700"/>
                <a:buFont typeface="Calibri"/>
                <a:buNone/>
              </a:pPr>
              <a:r>
                <a:rPr b="0" i="0" lang="ar-LY" sz="1700" u="none" cap="none" strike="noStrike">
                  <a:solidFill>
                    <a:schemeClr val="lt1"/>
                  </a:solidFill>
                  <a:latin typeface="Calibri"/>
                  <a:ea typeface="Calibri"/>
                  <a:cs typeface="Calibri"/>
                  <a:sym typeface="Calibri"/>
                </a:rPr>
                <a:t> (LIFO - Last-In-First-Out) </a:t>
              </a:r>
              <a:endParaRPr/>
            </a:p>
            <a:p>
              <a:pPr indent="0" lvl="0" marL="0" marR="0" rtl="1" algn="r">
                <a:lnSpc>
                  <a:spcPct val="90000"/>
                </a:lnSpc>
                <a:spcBef>
                  <a:spcPts val="595"/>
                </a:spcBef>
                <a:spcAft>
                  <a:spcPts val="0"/>
                </a:spcAft>
                <a:buClr>
                  <a:schemeClr val="lt1"/>
                </a:buClr>
                <a:buSzPts val="1700"/>
                <a:buFont typeface="Calibri"/>
                <a:buNone/>
              </a:pPr>
              <a:r>
                <a:rPr b="0" i="0" lang="ar-LY" sz="1700" u="none" cap="none" strike="noStrike">
                  <a:solidFill>
                    <a:schemeClr val="lt1"/>
                  </a:solidFill>
                  <a:latin typeface="Calibri"/>
                  <a:ea typeface="Calibri"/>
                  <a:cs typeface="Calibri"/>
                  <a:sym typeface="Calibri"/>
                </a:rPr>
                <a:t>وتسمح بعمليات الإدخال والحذف من طرف واحد من هيكل البيانات، وهو الجزء العلوي.</a:t>
              </a:r>
              <a:endParaRPr b="0" i="0" sz="1700" u="none" cap="none" strike="noStrike">
                <a:solidFill>
                  <a:schemeClr val="lt1"/>
                </a:solidFill>
                <a:latin typeface="Calibri"/>
                <a:ea typeface="Calibri"/>
                <a:cs typeface="Calibri"/>
                <a:sym typeface="Calibri"/>
              </a:endParaRPr>
            </a:p>
          </p:txBody>
        </p:sp>
        <p:sp>
          <p:nvSpPr>
            <p:cNvPr id="101" name="Google Shape;101;p2"/>
            <p:cNvSpPr/>
            <p:nvPr/>
          </p:nvSpPr>
          <p:spPr>
            <a:xfrm>
              <a:off x="0" y="1437323"/>
              <a:ext cx="6272784" cy="1153620"/>
            </a:xfrm>
            <a:prstGeom prst="roundRect">
              <a:avLst>
                <a:gd fmla="val 16667" name="adj"/>
              </a:avLst>
            </a:prstGeom>
            <a:solidFill>
              <a:schemeClr val="lt1"/>
            </a:solidFill>
            <a:ln cap="flat" cmpd="sng" w="12700">
              <a:solidFill>
                <a:srgbClr val="528CB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txBox="1"/>
            <p:nvPr/>
          </p:nvSpPr>
          <p:spPr>
            <a:xfrm>
              <a:off x="56315" y="1493638"/>
              <a:ext cx="6160154" cy="1040990"/>
            </a:xfrm>
            <a:prstGeom prst="rect">
              <a:avLst/>
            </a:prstGeom>
            <a:noFill/>
            <a:ln>
              <a:noFill/>
            </a:ln>
          </p:spPr>
          <p:txBody>
            <a:bodyPr anchorCtr="0" anchor="ctr" bIns="64750" lIns="64750" spcFirstLastPara="1" rIns="64750" wrap="square" tIns="64750">
              <a:noAutofit/>
            </a:bodyPr>
            <a:lstStyle/>
            <a:p>
              <a:pPr indent="0" lvl="0" marL="0" marR="0" rtl="1" algn="r">
                <a:lnSpc>
                  <a:spcPct val="90000"/>
                </a:lnSpc>
                <a:spcBef>
                  <a:spcPts val="0"/>
                </a:spcBef>
                <a:spcAft>
                  <a:spcPts val="0"/>
                </a:spcAft>
                <a:buClr>
                  <a:schemeClr val="lt1"/>
                </a:buClr>
                <a:buSzPts val="1700"/>
                <a:buFont typeface="Calibri"/>
                <a:buNone/>
              </a:pPr>
              <a:r>
                <a:rPr b="0" i="0" lang="ar-LY" sz="1700" u="none" cap="none" strike="noStrike">
                  <a:solidFill>
                    <a:schemeClr val="lt1"/>
                  </a:solidFill>
                  <a:latin typeface="Calibri"/>
                  <a:ea typeface="Calibri"/>
                  <a:cs typeface="Calibri"/>
                  <a:sym typeface="Calibri"/>
                </a:rPr>
                <a:t>يمكن تنفيذ الـ "Stack" باستخدام الذاكرة المتجاورة مثل المصفوفة، أو باستخدام الذاكرة غير المتجاورة مثل القائمة المرتبطة. يلعب الـ "Stack" دوراً حيوياً في العديد من التطبيقات</a:t>
              </a:r>
              <a:endParaRPr b="0" i="0" sz="1700" u="none" cap="none" strike="noStrike">
                <a:solidFill>
                  <a:schemeClr val="lt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3"/>
          <p:cNvSpPr/>
          <p:nvPr/>
        </p:nvSpPr>
        <p:spPr>
          <a:xfrm>
            <a:off x="0" y="651752"/>
            <a:ext cx="12192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 name="Google Shape;108;p3"/>
          <p:cNvSpPr txBox="1"/>
          <p:nvPr>
            <p:ph type="title"/>
          </p:nvPr>
        </p:nvSpPr>
        <p:spPr>
          <a:xfrm>
            <a:off x="556532" y="643467"/>
            <a:ext cx="11210925" cy="744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200"/>
              <a:buFont typeface="Calibri"/>
              <a:buNone/>
            </a:pPr>
            <a:r>
              <a:rPr lang="ar-LY" sz="3200">
                <a:solidFill>
                  <a:schemeClr val="lt1"/>
                </a:solidFill>
                <a:latin typeface="Calibri"/>
                <a:ea typeface="Calibri"/>
                <a:cs typeface="Calibri"/>
                <a:sym typeface="Calibri"/>
              </a:rPr>
              <a:t>Example of Stacks </a:t>
            </a:r>
            <a:endParaRPr/>
          </a:p>
        </p:txBody>
      </p:sp>
      <p:pic>
        <p:nvPicPr>
          <p:cNvPr id="109" name="Google Shape;109;p3"/>
          <p:cNvPicPr preferRelativeResize="0"/>
          <p:nvPr>
            <p:ph idx="1" type="body"/>
          </p:nvPr>
        </p:nvPicPr>
        <p:blipFill rotWithShape="1">
          <a:blip r:embed="rId3">
            <a:alphaModFix/>
          </a:blip>
          <a:srcRect b="0" l="0" r="0" t="0"/>
          <a:stretch/>
        </p:blipFill>
        <p:spPr>
          <a:xfrm>
            <a:off x="1016001" y="1675227"/>
            <a:ext cx="10159998" cy="43941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3" name="Shape 113"/>
        <p:cNvGrpSpPr/>
        <p:nvPr/>
      </p:nvGrpSpPr>
      <p:grpSpPr>
        <a:xfrm>
          <a:off x="0" y="0"/>
          <a:ext cx="0" cy="0"/>
          <a:chOff x="0" y="0"/>
          <a:chExt cx="0" cy="0"/>
        </a:xfrm>
      </p:grpSpPr>
      <p:sp>
        <p:nvSpPr>
          <p:cNvPr id="114" name="Google Shape;114;p4"/>
          <p:cNvSpPr/>
          <p:nvPr/>
        </p:nvSpPr>
        <p:spPr>
          <a:xfrm>
            <a:off x="0" y="0"/>
            <a:ext cx="12192000" cy="6858000"/>
          </a:xfrm>
          <a:prstGeom prst="rect">
            <a:avLst/>
          </a:prstGeom>
          <a:solidFill>
            <a:srgbClr val="4E57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5" name="Google Shape;115;p4"/>
          <p:cNvSpPr txBox="1"/>
          <p:nvPr>
            <p:ph type="title"/>
          </p:nvPr>
        </p:nvSpPr>
        <p:spPr>
          <a:xfrm>
            <a:off x="9093496" y="618681"/>
            <a:ext cx="2613872" cy="4794567"/>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FFFFFF"/>
              </a:buClr>
              <a:buSzPts val="3600"/>
              <a:buFont typeface="Calibri"/>
              <a:buNone/>
            </a:pPr>
            <a:r>
              <a:rPr b="0" i="0" lang="ar-LY" sz="3600">
                <a:solidFill>
                  <a:srgbClr val="FFFFFF"/>
                </a:solidFill>
              </a:rPr>
              <a:t>تمثيل Stack في هياكل البيانات</a:t>
            </a:r>
            <a:endParaRPr sz="3600">
              <a:solidFill>
                <a:srgbClr val="FFFFFF"/>
              </a:solidFill>
            </a:endParaRPr>
          </a:p>
        </p:txBody>
      </p:sp>
      <p:sp>
        <p:nvSpPr>
          <p:cNvPr id="116" name="Google Shape;116;p4"/>
          <p:cNvSpPr/>
          <p:nvPr/>
        </p:nvSpPr>
        <p:spPr>
          <a:xfrm>
            <a:off x="493354" y="484632"/>
            <a:ext cx="8129016" cy="5724144"/>
          </a:xfrm>
          <a:prstGeom prst="roundRect">
            <a:avLst>
              <a:gd fmla="val 0" name="adj"/>
            </a:avLst>
          </a:prstGeom>
          <a:solidFill>
            <a:srgbClr val="FFFFFF"/>
          </a:solidFill>
          <a:ln cap="flat" cmpd="sng" w="9525">
            <a:solidFill>
              <a:srgbClr val="C8CACA"/>
            </a:solidFill>
            <a:prstDash val="solid"/>
            <a:miter lim="800000"/>
            <a:headEnd len="sm" w="sm" type="none"/>
            <a:tailEnd len="sm" w="sm" type="none"/>
          </a:ln>
          <a:effectLst>
            <a:outerShdw blurRad="57150" rotWithShape="0" algn="t"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17" name="Google Shape;117;p4"/>
          <p:cNvPicPr preferRelativeResize="0"/>
          <p:nvPr>
            <p:ph idx="1" type="body"/>
          </p:nvPr>
        </p:nvPicPr>
        <p:blipFill rotWithShape="1">
          <a:blip r:embed="rId3">
            <a:alphaModFix/>
          </a:blip>
          <a:srcRect b="9132" l="0" r="0" t="10237"/>
          <a:stretch/>
        </p:blipFill>
        <p:spPr>
          <a:xfrm>
            <a:off x="976251" y="942538"/>
            <a:ext cx="7163222" cy="480833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
        <p:nvSpPr>
          <p:cNvPr id="122" name="Google Shape;122;p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3" name="Google Shape;123;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Arial"/>
              <a:buNone/>
            </a:pPr>
            <a:r>
              <a:rPr b="1" lang="ar-LY" sz="4200">
                <a:latin typeface="Arial"/>
                <a:ea typeface="Arial"/>
                <a:cs typeface="Arial"/>
                <a:sym typeface="Arial"/>
              </a:rPr>
              <a:t>Stack</a:t>
            </a:r>
            <a:r>
              <a:rPr b="1" i="0" lang="ar-LY" sz="4200">
                <a:latin typeface="Arial"/>
                <a:ea typeface="Arial"/>
                <a:cs typeface="Arial"/>
                <a:sym typeface="Arial"/>
              </a:rPr>
              <a:t> عمليات على هيكل بيانات </a:t>
            </a:r>
            <a:br>
              <a:rPr b="1" i="0" lang="ar-LY" sz="4200">
                <a:latin typeface="Arial"/>
                <a:ea typeface="Arial"/>
                <a:cs typeface="Arial"/>
                <a:sym typeface="Arial"/>
              </a:rPr>
            </a:br>
            <a:endParaRPr sz="4200"/>
          </a:p>
        </p:txBody>
      </p:sp>
      <p:sp>
        <p:nvSpPr>
          <p:cNvPr id="124" name="Google Shape;124;p5"/>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5" name="Google Shape;125;p5"/>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228600" lvl="0" marL="228600" rtl="1" algn="r">
              <a:lnSpc>
                <a:spcPct val="90000"/>
              </a:lnSpc>
              <a:spcBef>
                <a:spcPts val="0"/>
              </a:spcBef>
              <a:spcAft>
                <a:spcPts val="0"/>
              </a:spcAft>
              <a:buClr>
                <a:schemeClr val="dk1"/>
              </a:buClr>
              <a:buSzPts val="2200"/>
              <a:buChar char="•"/>
            </a:pPr>
            <a:r>
              <a:rPr b="0" i="0" lang="ar-LY" sz="2200">
                <a:latin typeface="Arial"/>
                <a:ea typeface="Arial"/>
                <a:cs typeface="Arial"/>
                <a:sym typeface="Arial"/>
              </a:rPr>
              <a:t>هيكل بيانات المكدس (Stack) يستخدم لتنفيذ عدة عمليات أساسية، والتي تتبع مبدأ "الأخير يدخل أولاً" </a:t>
            </a:r>
            <a:r>
              <a:rPr lang="ar-LY" sz="2200">
                <a:latin typeface="Arial"/>
                <a:ea typeface="Arial"/>
                <a:cs typeface="Arial"/>
                <a:sym typeface="Arial"/>
              </a:rPr>
              <a:t>(</a:t>
            </a:r>
            <a:r>
              <a:rPr b="0" i="0" lang="ar-LY" sz="2200">
                <a:latin typeface="Arial"/>
                <a:ea typeface="Arial"/>
                <a:cs typeface="Arial"/>
                <a:sym typeface="Arial"/>
              </a:rPr>
              <a:t>LIFO)</a:t>
            </a:r>
            <a:endParaRPr/>
          </a:p>
          <a:p>
            <a:pPr indent="-228600" lvl="0" marL="228600" rtl="1" algn="r">
              <a:lnSpc>
                <a:spcPct val="90000"/>
              </a:lnSpc>
              <a:spcBef>
                <a:spcPts val="1000"/>
              </a:spcBef>
              <a:spcAft>
                <a:spcPts val="0"/>
              </a:spcAft>
              <a:buClr>
                <a:schemeClr val="dk1"/>
              </a:buClr>
              <a:buSzPts val="2200"/>
              <a:buChar char="•"/>
            </a:pPr>
            <a:r>
              <a:rPr b="0" i="0" lang="ar-LY" sz="2200">
                <a:latin typeface="Arial"/>
                <a:ea typeface="Arial"/>
                <a:cs typeface="Arial"/>
                <a:sym typeface="Arial"/>
              </a:rPr>
              <a:t>العمليات الأساسية التي يمكن تنفيذها على stack:</a:t>
            </a:r>
            <a:endParaRPr/>
          </a:p>
          <a:p>
            <a:pPr indent="-228600" lvl="0" marL="228600" rtl="1" algn="r">
              <a:lnSpc>
                <a:spcPct val="90000"/>
              </a:lnSpc>
              <a:spcBef>
                <a:spcPts val="1000"/>
              </a:spcBef>
              <a:spcAft>
                <a:spcPts val="0"/>
              </a:spcAft>
              <a:buClr>
                <a:schemeClr val="dk1"/>
              </a:buClr>
              <a:buSzPts val="2200"/>
              <a:buFont typeface="Calibri"/>
              <a:buAutoNum type="arabicPeriod"/>
            </a:pPr>
            <a:r>
              <a:rPr b="1" i="0" lang="ar-LY" sz="2200">
                <a:latin typeface="Arial"/>
                <a:ea typeface="Arial"/>
                <a:cs typeface="Arial"/>
                <a:sym typeface="Arial"/>
              </a:rPr>
              <a:t>إنشاء مكدس (Create a Stack)</a:t>
            </a:r>
            <a:endParaRPr b="0" i="0" sz="2200">
              <a:latin typeface="Arial"/>
              <a:ea typeface="Arial"/>
              <a:cs typeface="Arial"/>
              <a:sym typeface="Arial"/>
            </a:endParaRPr>
          </a:p>
          <a:p>
            <a:pPr indent="-228600" lvl="0" marL="228600" rtl="1" algn="r">
              <a:lnSpc>
                <a:spcPct val="90000"/>
              </a:lnSpc>
              <a:spcBef>
                <a:spcPts val="1000"/>
              </a:spcBef>
              <a:spcAft>
                <a:spcPts val="0"/>
              </a:spcAft>
              <a:buClr>
                <a:schemeClr val="dk1"/>
              </a:buClr>
              <a:buSzPts val="2200"/>
              <a:buFont typeface="Calibri"/>
              <a:buAutoNum type="arabicPeriod"/>
            </a:pPr>
            <a:r>
              <a:rPr b="1" i="0" lang="ar-LY" sz="2200">
                <a:latin typeface="Arial"/>
                <a:ea typeface="Arial"/>
                <a:cs typeface="Arial"/>
                <a:sym typeface="Arial"/>
              </a:rPr>
              <a:t>التحقق إذا كان المكدس فارغًا (Check if the Stack is Empty)</a:t>
            </a:r>
            <a:endParaRPr b="0" i="0" sz="2200">
              <a:latin typeface="Arial"/>
              <a:ea typeface="Arial"/>
              <a:cs typeface="Arial"/>
              <a:sym typeface="Arial"/>
            </a:endParaRPr>
          </a:p>
          <a:p>
            <a:pPr indent="-228600" lvl="0" marL="228600" rtl="1" algn="r">
              <a:lnSpc>
                <a:spcPct val="90000"/>
              </a:lnSpc>
              <a:spcBef>
                <a:spcPts val="1000"/>
              </a:spcBef>
              <a:spcAft>
                <a:spcPts val="0"/>
              </a:spcAft>
              <a:buClr>
                <a:schemeClr val="dk1"/>
              </a:buClr>
              <a:buSzPts val="2200"/>
              <a:buFont typeface="Calibri"/>
              <a:buAutoNum type="arabicPeriod"/>
            </a:pPr>
            <a:r>
              <a:rPr b="1" i="0" lang="ar-LY" sz="2200">
                <a:latin typeface="Arial"/>
                <a:ea typeface="Arial"/>
                <a:cs typeface="Arial"/>
                <a:sym typeface="Arial"/>
              </a:rPr>
              <a:t>إضافة عنصر إلى المكدس (Push an Element onto the Stack)</a:t>
            </a:r>
            <a:endParaRPr b="0" i="0" sz="2200">
              <a:latin typeface="Arial"/>
              <a:ea typeface="Arial"/>
              <a:cs typeface="Arial"/>
              <a:sym typeface="Arial"/>
            </a:endParaRPr>
          </a:p>
          <a:p>
            <a:pPr indent="-228600" lvl="0" marL="228600" rtl="1" algn="r">
              <a:lnSpc>
                <a:spcPct val="90000"/>
              </a:lnSpc>
              <a:spcBef>
                <a:spcPts val="1000"/>
              </a:spcBef>
              <a:spcAft>
                <a:spcPts val="0"/>
              </a:spcAft>
              <a:buClr>
                <a:schemeClr val="dk1"/>
              </a:buClr>
              <a:buSzPts val="2200"/>
              <a:buFont typeface="Calibri"/>
              <a:buAutoNum type="arabicPeriod"/>
            </a:pPr>
            <a:r>
              <a:rPr b="1" i="0" lang="ar-LY" sz="2200">
                <a:latin typeface="Arial"/>
                <a:ea typeface="Arial"/>
                <a:cs typeface="Arial"/>
                <a:sym typeface="Arial"/>
              </a:rPr>
              <a:t>إزالة العنصر العلوي من المكدس (Pop an Element from the Stack)</a:t>
            </a:r>
            <a:endParaRPr b="0" i="0" sz="2200">
              <a:latin typeface="Arial"/>
              <a:ea typeface="Arial"/>
              <a:cs typeface="Arial"/>
              <a:sym typeface="Arial"/>
            </a:endParaRPr>
          </a:p>
          <a:p>
            <a:pPr indent="-228600" lvl="0" marL="228600" rtl="1" algn="r">
              <a:lnSpc>
                <a:spcPct val="90000"/>
              </a:lnSpc>
              <a:spcBef>
                <a:spcPts val="1000"/>
              </a:spcBef>
              <a:spcAft>
                <a:spcPts val="0"/>
              </a:spcAft>
              <a:buClr>
                <a:schemeClr val="dk1"/>
              </a:buClr>
              <a:buSzPts val="2200"/>
              <a:buFont typeface="Calibri"/>
              <a:buAutoNum type="arabicPeriod"/>
            </a:pPr>
            <a:r>
              <a:rPr b="1" i="0" lang="ar-LY" sz="2200">
                <a:latin typeface="Arial"/>
                <a:ea typeface="Arial"/>
                <a:cs typeface="Arial"/>
                <a:sym typeface="Arial"/>
              </a:rPr>
              <a:t>عرض العنصر العلوي بدون إزالته (Peek at the Top Element)</a:t>
            </a:r>
            <a:endParaRPr b="0" i="0" sz="2200">
              <a:latin typeface="Arial"/>
              <a:ea typeface="Arial"/>
              <a:cs typeface="Arial"/>
              <a:sym typeface="Arial"/>
            </a:endParaRPr>
          </a:p>
          <a:p>
            <a:pPr indent="-228600" lvl="0" marL="228600" rtl="1" algn="r">
              <a:lnSpc>
                <a:spcPct val="90000"/>
              </a:lnSpc>
              <a:spcBef>
                <a:spcPts val="1000"/>
              </a:spcBef>
              <a:spcAft>
                <a:spcPts val="0"/>
              </a:spcAft>
              <a:buClr>
                <a:schemeClr val="dk1"/>
              </a:buClr>
              <a:buSzPts val="2200"/>
              <a:buFont typeface="Calibri"/>
              <a:buAutoNum type="arabicPeriod"/>
            </a:pPr>
            <a:r>
              <a:rPr b="1" i="0" lang="ar-LY" sz="2200">
                <a:latin typeface="Arial"/>
                <a:ea typeface="Arial"/>
                <a:cs typeface="Arial"/>
                <a:sym typeface="Arial"/>
              </a:rPr>
              <a:t>عرض جميع عناصر المكدس (Display all Elements in the Stack)</a:t>
            </a:r>
            <a:endParaRPr b="0" i="0" sz="2200">
              <a:latin typeface="Arial"/>
              <a:ea typeface="Arial"/>
              <a:cs typeface="Arial"/>
              <a:sym typeface="Arial"/>
            </a:endParaRPr>
          </a:p>
          <a:p>
            <a:pPr indent="-88900" lvl="0" marL="228600" rtl="1" algn="r">
              <a:lnSpc>
                <a:spcPct val="90000"/>
              </a:lnSpc>
              <a:spcBef>
                <a:spcPts val="1000"/>
              </a:spcBef>
              <a:spcAft>
                <a:spcPts val="0"/>
              </a:spcAft>
              <a:buClr>
                <a:schemeClr val="dk1"/>
              </a:buClr>
              <a:buSzPts val="2200"/>
              <a:buNone/>
            </a:pPr>
            <a:r>
              <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ar-LY"/>
              <a:t>Operations On Stacks</a:t>
            </a:r>
            <a:endParaRPr/>
          </a:p>
        </p:txBody>
      </p:sp>
      <p:grpSp>
        <p:nvGrpSpPr>
          <p:cNvPr id="131" name="Google Shape;131;p6"/>
          <p:cNvGrpSpPr/>
          <p:nvPr/>
        </p:nvGrpSpPr>
        <p:grpSpPr>
          <a:xfrm>
            <a:off x="1050535" y="2295515"/>
            <a:ext cx="10090929" cy="3411557"/>
            <a:chOff x="212335" y="469890"/>
            <a:chExt cx="10090929" cy="3411557"/>
          </a:xfrm>
        </p:grpSpPr>
        <p:sp>
          <p:nvSpPr>
            <p:cNvPr id="132" name="Google Shape;132;p6"/>
            <p:cNvSpPr/>
            <p:nvPr/>
          </p:nvSpPr>
          <p:spPr>
            <a:xfrm>
              <a:off x="212335" y="469890"/>
              <a:ext cx="1335915" cy="1335915"/>
            </a:xfrm>
            <a:prstGeom prst="ellipse">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a:off x="492877" y="750432"/>
              <a:ext cx="774830" cy="774830"/>
            </a:xfrm>
            <a:prstGeom prst="rect">
              <a:avLst/>
            </a:prstGeom>
            <a:blipFill rotWithShape="1">
              <a:blip r:embed="rId3">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1834517" y="469890"/>
              <a:ext cx="3148942" cy="133591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txBox="1"/>
            <p:nvPr/>
          </p:nvSpPr>
          <p:spPr>
            <a:xfrm>
              <a:off x="1834517" y="469890"/>
              <a:ext cx="3148942" cy="133591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Calibri"/>
                <a:buNone/>
              </a:pPr>
              <a:r>
                <a:rPr b="0" i="0" lang="ar-LY" sz="2400" u="none" cap="none" strike="noStrike">
                  <a:solidFill>
                    <a:schemeClr val="dk1"/>
                  </a:solidFill>
                  <a:latin typeface="Calibri"/>
                  <a:ea typeface="Calibri"/>
                  <a:cs typeface="Calibri"/>
                  <a:sym typeface="Calibri"/>
                </a:rPr>
                <a:t>push() to insert an element into the stack </a:t>
              </a:r>
              <a:endParaRPr/>
            </a:p>
          </p:txBody>
        </p:sp>
        <p:sp>
          <p:nvSpPr>
            <p:cNvPr id="136" name="Google Shape;136;p6"/>
            <p:cNvSpPr/>
            <p:nvPr/>
          </p:nvSpPr>
          <p:spPr>
            <a:xfrm>
              <a:off x="5532139" y="469890"/>
              <a:ext cx="1335915" cy="1335915"/>
            </a:xfrm>
            <a:prstGeom prst="ellipse">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5812681" y="750432"/>
              <a:ext cx="774830" cy="774830"/>
            </a:xfrm>
            <a:prstGeom prst="rect">
              <a:avLst/>
            </a:prstGeom>
            <a:blipFill rotWithShape="1">
              <a:blip r:embed="rId4">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7154322" y="469890"/>
              <a:ext cx="3148942" cy="133591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txBox="1"/>
            <p:nvPr/>
          </p:nvSpPr>
          <p:spPr>
            <a:xfrm>
              <a:off x="7154322" y="469890"/>
              <a:ext cx="3148942" cy="133591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Calibri"/>
                <a:buNone/>
              </a:pPr>
              <a:r>
                <a:rPr b="0" i="0" lang="ar-LY" sz="2400" u="none" cap="none" strike="noStrike">
                  <a:solidFill>
                    <a:schemeClr val="dk1"/>
                  </a:solidFill>
                  <a:latin typeface="Calibri"/>
                  <a:ea typeface="Calibri"/>
                  <a:cs typeface="Calibri"/>
                  <a:sym typeface="Calibri"/>
                </a:rPr>
                <a:t>pop() to remove an element from the stack </a:t>
              </a:r>
              <a:endParaRPr/>
            </a:p>
          </p:txBody>
        </p:sp>
        <p:sp>
          <p:nvSpPr>
            <p:cNvPr id="140" name="Google Shape;140;p6"/>
            <p:cNvSpPr/>
            <p:nvPr/>
          </p:nvSpPr>
          <p:spPr>
            <a:xfrm>
              <a:off x="212335" y="2545532"/>
              <a:ext cx="1335915" cy="1335915"/>
            </a:xfrm>
            <a:prstGeom prst="ellipse">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492877" y="2826074"/>
              <a:ext cx="774830" cy="774830"/>
            </a:xfrm>
            <a:prstGeom prst="rect">
              <a:avLst/>
            </a:prstGeom>
            <a:blipFill rotWithShape="1">
              <a:blip r:embed="rId5">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1834517" y="2545532"/>
              <a:ext cx="3148942" cy="133591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txBox="1"/>
            <p:nvPr/>
          </p:nvSpPr>
          <p:spPr>
            <a:xfrm>
              <a:off x="1834517" y="2545532"/>
              <a:ext cx="3148942" cy="133591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Calibri"/>
                <a:buNone/>
              </a:pPr>
              <a:r>
                <a:rPr b="0" i="0" lang="ar-LY" sz="2400" u="none" cap="none" strike="noStrike">
                  <a:solidFill>
                    <a:schemeClr val="dk1"/>
                  </a:solidFill>
                  <a:latin typeface="Calibri"/>
                  <a:ea typeface="Calibri"/>
                  <a:cs typeface="Calibri"/>
                  <a:sym typeface="Calibri"/>
                </a:rPr>
                <a:t>peek() Returns the top element of the stack. </a:t>
              </a:r>
              <a:endParaRPr/>
            </a:p>
          </p:txBody>
        </p:sp>
        <p:sp>
          <p:nvSpPr>
            <p:cNvPr id="144" name="Google Shape;144;p6"/>
            <p:cNvSpPr/>
            <p:nvPr/>
          </p:nvSpPr>
          <p:spPr>
            <a:xfrm>
              <a:off x="5532139" y="2545532"/>
              <a:ext cx="1335915" cy="1335915"/>
            </a:xfrm>
            <a:prstGeom prst="ellipse">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5812681" y="2826074"/>
              <a:ext cx="774830" cy="774830"/>
            </a:xfrm>
            <a:prstGeom prst="rect">
              <a:avLst/>
            </a:prstGeom>
            <a:blipFill rotWithShape="1">
              <a:blip r:embed="rId6">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7154322" y="2545532"/>
              <a:ext cx="3148942" cy="133591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txBox="1"/>
            <p:nvPr/>
          </p:nvSpPr>
          <p:spPr>
            <a:xfrm>
              <a:off x="7154322" y="2545532"/>
              <a:ext cx="3148942" cy="133591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Calibri"/>
                <a:buNone/>
              </a:pPr>
              <a:r>
                <a:rPr b="0" i="0" lang="ar-LY" sz="2400" u="none" cap="none" strike="noStrike">
                  <a:solidFill>
                    <a:schemeClr val="dk1"/>
                  </a:solidFill>
                  <a:latin typeface="Calibri"/>
                  <a:ea typeface="Calibri"/>
                  <a:cs typeface="Calibri"/>
                  <a:sym typeface="Calibri"/>
                </a:rPr>
                <a:t>• isEmpty() returns true if the stack is empty else false.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 name="Shape 151"/>
        <p:cNvGrpSpPr/>
        <p:nvPr/>
      </p:nvGrpSpPr>
      <p:grpSpPr>
        <a:xfrm>
          <a:off x="0" y="0"/>
          <a:ext cx="0" cy="0"/>
          <a:chOff x="0" y="0"/>
          <a:chExt cx="0" cy="0"/>
        </a:xfrm>
      </p:grpSpPr>
      <p:sp>
        <p:nvSpPr>
          <p:cNvPr id="152" name="Google Shape;152;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3" name="Google Shape;153;p7"/>
          <p:cNvSpPr/>
          <p:nvPr/>
        </p:nvSpPr>
        <p:spPr>
          <a:xfrm flipH="1" rot="-2700000">
            <a:off x="-376156" y="-253670"/>
            <a:ext cx="1827638" cy="1376989"/>
          </a:xfrm>
          <a:custGeom>
            <a:rect b="b" l="l" r="r" t="t"/>
            <a:pathLst>
              <a:path extrusionOk="0" h="1376989" w="1827638">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4" name="Google Shape;154;p7"/>
          <p:cNvSpPr/>
          <p:nvPr/>
        </p:nvSpPr>
        <p:spPr>
          <a:xfrm flipH="1" rot="-2700000">
            <a:off x="891641" y="422146"/>
            <a:ext cx="645368" cy="64536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5" name="Google Shape;155;p7"/>
          <p:cNvSpPr/>
          <p:nvPr/>
        </p:nvSpPr>
        <p:spPr>
          <a:xfrm flipH="1" rot="-2700000">
            <a:off x="10043482" y="655140"/>
            <a:ext cx="687472" cy="687472"/>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6" name="Google Shape;156;p7"/>
          <p:cNvSpPr/>
          <p:nvPr/>
        </p:nvSpPr>
        <p:spPr>
          <a:xfrm flipH="1" rot="10800000">
            <a:off x="9356643" y="0"/>
            <a:ext cx="2835357" cy="1480837"/>
          </a:xfrm>
          <a:custGeom>
            <a:rect b="b" l="l" r="r" t="t"/>
            <a:pathLst>
              <a:path extrusionOk="0" h="1480837" w="2835357">
                <a:moveTo>
                  <a:pt x="2835357" y="1480837"/>
                </a:moveTo>
                <a:lnTo>
                  <a:pt x="0" y="1480837"/>
                </a:lnTo>
                <a:lnTo>
                  <a:pt x="1552727" y="0"/>
                </a:lnTo>
                <a:lnTo>
                  <a:pt x="2835357" y="1223245"/>
                </a:lnTo>
                <a:close/>
              </a:path>
            </a:pathLst>
          </a:cu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7" name="Google Shape;157;p7"/>
          <p:cNvSpPr/>
          <p:nvPr/>
        </p:nvSpPr>
        <p:spPr>
          <a:xfrm flipH="1">
            <a:off x="7976344" y="6115501"/>
            <a:ext cx="1494513" cy="742499"/>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58" name="Google Shape;158;p7"/>
          <p:cNvPicPr preferRelativeResize="0"/>
          <p:nvPr>
            <p:ph idx="1" type="body"/>
          </p:nvPr>
        </p:nvPicPr>
        <p:blipFill rotWithShape="1">
          <a:blip r:embed="rId3">
            <a:alphaModFix/>
          </a:blip>
          <a:srcRect b="0" l="0" r="0" t="0"/>
          <a:stretch/>
        </p:blipFill>
        <p:spPr>
          <a:xfrm>
            <a:off x="937606" y="643467"/>
            <a:ext cx="10316788" cy="5571065"/>
          </a:xfrm>
          <a:prstGeom prst="rect">
            <a:avLst/>
          </a:prstGeom>
          <a:noFill/>
          <a:ln>
            <a:noFill/>
          </a:ln>
        </p:spPr>
      </p:pic>
      <p:sp>
        <p:nvSpPr>
          <p:cNvPr id="159" name="Google Shape;159;p7"/>
          <p:cNvSpPr/>
          <p:nvPr/>
        </p:nvSpPr>
        <p:spPr>
          <a:xfrm flipH="1">
            <a:off x="7604080" y="6453143"/>
            <a:ext cx="814903" cy="404857"/>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grpSp>
        <p:nvGrpSpPr>
          <p:cNvPr id="164" name="Google Shape;164;p8"/>
          <p:cNvGrpSpPr/>
          <p:nvPr/>
        </p:nvGrpSpPr>
        <p:grpSpPr>
          <a:xfrm>
            <a:off x="-19217" y="-1"/>
            <a:ext cx="5213267" cy="6883030"/>
            <a:chOff x="-19217" y="-1"/>
            <a:chExt cx="5213267" cy="6883030"/>
          </a:xfrm>
        </p:grpSpPr>
        <p:sp>
          <p:nvSpPr>
            <p:cNvPr id="165" name="Google Shape;165;p8"/>
            <p:cNvSpPr/>
            <p:nvPr/>
          </p:nvSpPr>
          <p:spPr>
            <a:xfrm>
              <a:off x="-19206" y="0"/>
              <a:ext cx="5204956" cy="6883029"/>
            </a:xfrm>
            <a:prstGeom prst="rect">
              <a:avLst/>
            </a:prstGeom>
            <a:gradFill>
              <a:gsLst>
                <a:gs pos="0">
                  <a:schemeClr val="accent2"/>
                </a:gs>
                <a:gs pos="7000">
                  <a:schemeClr val="accent2"/>
                </a:gs>
                <a:gs pos="100000">
                  <a:schemeClr val="accent5"/>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6" name="Google Shape;166;p8"/>
            <p:cNvSpPr/>
            <p:nvPr/>
          </p:nvSpPr>
          <p:spPr>
            <a:xfrm rot="10800000">
              <a:off x="-19217" y="1731909"/>
              <a:ext cx="5204963" cy="5144400"/>
            </a:xfrm>
            <a:prstGeom prst="rect">
              <a:avLst/>
            </a:prstGeom>
            <a:gradFill>
              <a:gsLst>
                <a:gs pos="0">
                  <a:srgbClr val="2E75B5"/>
                </a:gs>
                <a:gs pos="60000">
                  <a:srgbClr val="9CC2E5">
                    <a:alpha val="0"/>
                  </a:srgbClr>
                </a:gs>
                <a:gs pos="100000">
                  <a:srgbClr val="9CC2E5">
                    <a:alpha val="0"/>
                  </a:srgbClr>
                </a:gs>
              </a:gsLst>
              <a:path path="circle">
                <a:fillToRect b="100%" l="0%" r="100%" t="0%"/>
              </a:path>
              <a:tileRect b="0%" l="-100%" r="0%" t="-10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7" name="Google Shape;167;p8"/>
            <p:cNvSpPr/>
            <p:nvPr/>
          </p:nvSpPr>
          <p:spPr>
            <a:xfrm>
              <a:off x="-19210" y="6723"/>
              <a:ext cx="3834567" cy="6876300"/>
            </a:xfrm>
            <a:prstGeom prst="rect">
              <a:avLst/>
            </a:prstGeom>
            <a:gradFill>
              <a:gsLst>
                <a:gs pos="0">
                  <a:srgbClr val="F4B081">
                    <a:alpha val="77647"/>
                  </a:srgbClr>
                </a:gs>
                <a:gs pos="3000">
                  <a:srgbClr val="F4B081">
                    <a:alpha val="77647"/>
                  </a:srgbClr>
                </a:gs>
                <a:gs pos="42000">
                  <a:srgbClr val="ED7D31">
                    <a:alpha val="0"/>
                  </a:srgbClr>
                </a:gs>
                <a:gs pos="100000">
                  <a:srgbClr val="ED7D31">
                    <a:alpha val="0"/>
                  </a:srgbClr>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8" name="Google Shape;168;p8"/>
            <p:cNvSpPr/>
            <p:nvPr/>
          </p:nvSpPr>
          <p:spPr>
            <a:xfrm rot="-5400000">
              <a:off x="-844601" y="833689"/>
              <a:ext cx="6872341" cy="5204961"/>
            </a:xfrm>
            <a:prstGeom prst="rect">
              <a:avLst/>
            </a:prstGeom>
            <a:gradFill>
              <a:gsLst>
                <a:gs pos="0">
                  <a:srgbClr val="5B9BD5">
                    <a:alpha val="85882"/>
                  </a:srgbClr>
                </a:gs>
                <a:gs pos="57000">
                  <a:srgbClr val="ED7D31">
                    <a:alpha val="0"/>
                  </a:srgbClr>
                </a:gs>
                <a:gs pos="100000">
                  <a:srgbClr val="ED7D31">
                    <a:alpha val="0"/>
                  </a:srgbClr>
                </a:gs>
              </a:gsLst>
              <a:lin ang="1380000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169" name="Google Shape;169;p8"/>
          <p:cNvSpPr txBox="1"/>
          <p:nvPr>
            <p:ph type="title"/>
          </p:nvPr>
        </p:nvSpPr>
        <p:spPr>
          <a:xfrm>
            <a:off x="755484" y="739835"/>
            <a:ext cx="3702580" cy="161620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alibri"/>
              <a:buNone/>
            </a:pPr>
            <a:r>
              <a:rPr lang="ar-LY" sz="3200">
                <a:solidFill>
                  <a:srgbClr val="FFFFFF"/>
                </a:solidFill>
              </a:rPr>
              <a:t>PUSH Operation </a:t>
            </a:r>
            <a:endParaRPr sz="3200">
              <a:solidFill>
                <a:srgbClr val="FFFFFF"/>
              </a:solidFill>
            </a:endParaRPr>
          </a:p>
        </p:txBody>
      </p:sp>
      <p:sp>
        <p:nvSpPr>
          <p:cNvPr id="170" name="Google Shape;170;p8"/>
          <p:cNvSpPr txBox="1"/>
          <p:nvPr>
            <p:ph idx="1" type="body"/>
          </p:nvPr>
        </p:nvSpPr>
        <p:spPr>
          <a:xfrm>
            <a:off x="755484" y="2459116"/>
            <a:ext cx="3702579" cy="352482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FFF"/>
              </a:buClr>
              <a:buSzPts val="2000"/>
              <a:buChar char="•"/>
            </a:pPr>
            <a:r>
              <a:rPr lang="ar-LY" sz="2000">
                <a:solidFill>
                  <a:srgbClr val="FFFFFF"/>
                </a:solidFill>
              </a:rPr>
              <a:t>What changes are made to the stack when a new element is pushed? ما هي التغييرات التي تتم على المكدس عند دفع عنصر جديد؟</a:t>
            </a:r>
            <a:endParaRPr/>
          </a:p>
          <a:p>
            <a:pPr indent="-228600" lvl="0" marL="228600" rtl="0" algn="l">
              <a:lnSpc>
                <a:spcPct val="90000"/>
              </a:lnSpc>
              <a:spcBef>
                <a:spcPts val="1000"/>
              </a:spcBef>
              <a:spcAft>
                <a:spcPts val="0"/>
              </a:spcAft>
              <a:buClr>
                <a:srgbClr val="FFFFFF"/>
              </a:buClr>
              <a:buSzPts val="2000"/>
              <a:buChar char="•"/>
            </a:pPr>
            <a:r>
              <a:rPr lang="ar-LY" sz="2000">
                <a:solidFill>
                  <a:srgbClr val="FFFFFF"/>
                </a:solidFill>
              </a:rPr>
              <a:t>• A new element is inserted on top • يتم إدخال عنصر جديد في الأعلى</a:t>
            </a:r>
            <a:endParaRPr/>
          </a:p>
          <a:p>
            <a:pPr indent="-101600" lvl="0" marL="228600" rtl="0" algn="l">
              <a:lnSpc>
                <a:spcPct val="90000"/>
              </a:lnSpc>
              <a:spcBef>
                <a:spcPts val="1000"/>
              </a:spcBef>
              <a:spcAft>
                <a:spcPts val="0"/>
              </a:spcAft>
              <a:buClr>
                <a:schemeClr val="dk1"/>
              </a:buClr>
              <a:buSzPts val="2000"/>
              <a:buNone/>
            </a:pPr>
            <a:r>
              <a:t/>
            </a:r>
            <a:endParaRPr sz="2000">
              <a:solidFill>
                <a:srgbClr val="FFFFFF"/>
              </a:solidFill>
            </a:endParaRPr>
          </a:p>
          <a:p>
            <a:pPr indent="-228600" lvl="0" marL="228600" rtl="0" algn="l">
              <a:lnSpc>
                <a:spcPct val="90000"/>
              </a:lnSpc>
              <a:spcBef>
                <a:spcPts val="1000"/>
              </a:spcBef>
              <a:spcAft>
                <a:spcPts val="0"/>
              </a:spcAft>
              <a:buClr>
                <a:srgbClr val="FFFFFF"/>
              </a:buClr>
              <a:buSzPts val="2000"/>
              <a:buChar char="•"/>
            </a:pPr>
            <a:r>
              <a:rPr lang="ar-LY" sz="2000">
                <a:solidFill>
                  <a:srgbClr val="FFFFFF"/>
                </a:solidFill>
              </a:rPr>
              <a:t>• The value of top increases by 1</a:t>
            </a:r>
            <a:endParaRPr/>
          </a:p>
          <a:p>
            <a:pPr indent="-101600" lvl="0" marL="228600" rtl="0" algn="l">
              <a:lnSpc>
                <a:spcPct val="90000"/>
              </a:lnSpc>
              <a:spcBef>
                <a:spcPts val="1000"/>
              </a:spcBef>
              <a:spcAft>
                <a:spcPts val="0"/>
              </a:spcAft>
              <a:buClr>
                <a:schemeClr val="dk1"/>
              </a:buClr>
              <a:buSzPts val="2000"/>
              <a:buNone/>
            </a:pPr>
            <a:r>
              <a:t/>
            </a:r>
            <a:endParaRPr sz="2000">
              <a:solidFill>
                <a:srgbClr val="FFFFFF"/>
              </a:solidFill>
            </a:endParaRPr>
          </a:p>
          <a:p>
            <a:pPr indent="0" lvl="0" marL="0" rtl="0" algn="l">
              <a:lnSpc>
                <a:spcPct val="90000"/>
              </a:lnSpc>
              <a:spcBef>
                <a:spcPts val="1000"/>
              </a:spcBef>
              <a:spcAft>
                <a:spcPts val="0"/>
              </a:spcAft>
              <a:buClr>
                <a:schemeClr val="dk1"/>
              </a:buClr>
              <a:buSzPts val="2000"/>
              <a:buNone/>
            </a:pPr>
            <a:r>
              <a:t/>
            </a:r>
            <a:endParaRPr sz="2000">
              <a:solidFill>
                <a:srgbClr val="FFFFFF"/>
              </a:solidFill>
            </a:endParaRPr>
          </a:p>
          <a:p>
            <a:pPr indent="-101600" lvl="0" marL="228600" rtl="0" algn="l">
              <a:lnSpc>
                <a:spcPct val="90000"/>
              </a:lnSpc>
              <a:spcBef>
                <a:spcPts val="1000"/>
              </a:spcBef>
              <a:spcAft>
                <a:spcPts val="0"/>
              </a:spcAft>
              <a:buClr>
                <a:schemeClr val="dk1"/>
              </a:buClr>
              <a:buSzPts val="2000"/>
              <a:buNone/>
            </a:pPr>
            <a:r>
              <a:t/>
            </a:r>
            <a:endParaRPr sz="2000">
              <a:solidFill>
                <a:srgbClr val="FFFFFF"/>
              </a:solidFill>
            </a:endParaRPr>
          </a:p>
          <a:p>
            <a:pPr indent="-101600" lvl="0" marL="228600" rtl="0" algn="l">
              <a:lnSpc>
                <a:spcPct val="90000"/>
              </a:lnSpc>
              <a:spcBef>
                <a:spcPts val="1000"/>
              </a:spcBef>
              <a:spcAft>
                <a:spcPts val="0"/>
              </a:spcAft>
              <a:buClr>
                <a:schemeClr val="dk1"/>
              </a:buClr>
              <a:buSzPts val="2000"/>
              <a:buNone/>
            </a:pPr>
            <a:r>
              <a:t/>
            </a:r>
            <a:endParaRPr sz="2000">
              <a:solidFill>
                <a:srgbClr val="FFFFFF"/>
              </a:solidFill>
            </a:endParaRPr>
          </a:p>
          <a:p>
            <a:pPr indent="-101600" lvl="0" marL="228600" rtl="0" algn="l">
              <a:lnSpc>
                <a:spcPct val="90000"/>
              </a:lnSpc>
              <a:spcBef>
                <a:spcPts val="1000"/>
              </a:spcBef>
              <a:spcAft>
                <a:spcPts val="0"/>
              </a:spcAft>
              <a:buClr>
                <a:schemeClr val="dk1"/>
              </a:buClr>
              <a:buSzPts val="2000"/>
              <a:buNone/>
            </a:pPr>
            <a:r>
              <a:t/>
            </a:r>
            <a:endParaRPr sz="2000">
              <a:solidFill>
                <a:srgbClr val="FFFFFF"/>
              </a:solidFill>
            </a:endParaRPr>
          </a:p>
          <a:p>
            <a:pPr indent="-101600" lvl="0" marL="228600" rtl="0" algn="l">
              <a:lnSpc>
                <a:spcPct val="90000"/>
              </a:lnSpc>
              <a:spcBef>
                <a:spcPts val="1000"/>
              </a:spcBef>
              <a:spcAft>
                <a:spcPts val="0"/>
              </a:spcAft>
              <a:buClr>
                <a:schemeClr val="dk1"/>
              </a:buClr>
              <a:buSzPts val="2000"/>
              <a:buNone/>
            </a:pPr>
            <a:r>
              <a:t/>
            </a:r>
            <a:endParaRPr sz="2000">
              <a:solidFill>
                <a:srgbClr val="FFFFFF"/>
              </a:solidFill>
            </a:endParaRPr>
          </a:p>
          <a:p>
            <a:pPr indent="-101600" lvl="0" marL="228600" rtl="0" algn="l">
              <a:lnSpc>
                <a:spcPct val="90000"/>
              </a:lnSpc>
              <a:spcBef>
                <a:spcPts val="1000"/>
              </a:spcBef>
              <a:spcAft>
                <a:spcPts val="0"/>
              </a:spcAft>
              <a:buClr>
                <a:schemeClr val="dk1"/>
              </a:buClr>
              <a:buSzPts val="2000"/>
              <a:buNone/>
            </a:pPr>
            <a:r>
              <a:t/>
            </a:r>
            <a:endParaRPr sz="2000">
              <a:solidFill>
                <a:srgbClr val="FFFFFF"/>
              </a:solidFill>
            </a:endParaRPr>
          </a:p>
        </p:txBody>
      </p:sp>
      <p:pic>
        <p:nvPicPr>
          <p:cNvPr id="171" name="Google Shape;171;p8"/>
          <p:cNvPicPr preferRelativeResize="0"/>
          <p:nvPr/>
        </p:nvPicPr>
        <p:blipFill rotWithShape="1">
          <a:blip r:embed="rId3">
            <a:alphaModFix/>
          </a:blip>
          <a:srcRect b="0" l="0" r="0" t="0"/>
          <a:stretch/>
        </p:blipFill>
        <p:spPr>
          <a:xfrm>
            <a:off x="6005304" y="1942074"/>
            <a:ext cx="5407002" cy="2973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p9"/>
          <p:cNvSpPr txBox="1"/>
          <p:nvPr>
            <p:ph type="title"/>
          </p:nvPr>
        </p:nvSpPr>
        <p:spPr>
          <a:xfrm>
            <a:off x="876693" y="741391"/>
            <a:ext cx="3455821" cy="161620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ar-LY" sz="3200"/>
              <a:t>POP Operation</a:t>
            </a:r>
            <a:endParaRPr sz="3200"/>
          </a:p>
        </p:txBody>
      </p:sp>
      <p:sp>
        <p:nvSpPr>
          <p:cNvPr id="177" name="Google Shape;177;p9"/>
          <p:cNvSpPr txBox="1"/>
          <p:nvPr>
            <p:ph idx="1" type="body"/>
          </p:nvPr>
        </p:nvSpPr>
        <p:spPr>
          <a:xfrm>
            <a:off x="876693" y="2533476"/>
            <a:ext cx="3455821" cy="344783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ar-LY" sz="2000"/>
              <a:t> What changes are made to the stack internally for a pop operation? </a:t>
            </a:r>
            <a:endParaRPr/>
          </a:p>
          <a:p>
            <a:pPr indent="-228600" lvl="0" marL="228600" rtl="0" algn="l">
              <a:lnSpc>
                <a:spcPct val="90000"/>
              </a:lnSpc>
              <a:spcBef>
                <a:spcPts val="1000"/>
              </a:spcBef>
              <a:spcAft>
                <a:spcPts val="0"/>
              </a:spcAft>
              <a:buClr>
                <a:schemeClr val="dk1"/>
              </a:buClr>
              <a:buSzPts val="2000"/>
              <a:buChar char="•"/>
            </a:pPr>
            <a:r>
              <a:rPr lang="ar-LY" sz="2000"/>
              <a:t>The top element is removed </a:t>
            </a:r>
            <a:endParaRPr/>
          </a:p>
          <a:p>
            <a:pPr indent="-228600" lvl="0" marL="228600" rtl="0" algn="l">
              <a:lnSpc>
                <a:spcPct val="90000"/>
              </a:lnSpc>
              <a:spcBef>
                <a:spcPts val="1000"/>
              </a:spcBef>
              <a:spcAft>
                <a:spcPts val="0"/>
              </a:spcAft>
              <a:buClr>
                <a:schemeClr val="dk1"/>
              </a:buClr>
              <a:buSzPts val="2000"/>
              <a:buChar char="•"/>
            </a:pPr>
            <a:r>
              <a:rPr lang="ar-LY" sz="2000"/>
              <a:t> The value of top is decreased by 1 </a:t>
            </a:r>
            <a:endParaRPr sz="2000"/>
          </a:p>
        </p:txBody>
      </p:sp>
      <p:pic>
        <p:nvPicPr>
          <p:cNvPr id="178" name="Google Shape;178;p9"/>
          <p:cNvPicPr preferRelativeResize="0"/>
          <p:nvPr/>
        </p:nvPicPr>
        <p:blipFill rotWithShape="1">
          <a:blip r:embed="rId3">
            <a:alphaModFix/>
          </a:blip>
          <a:srcRect b="0" l="0" r="0" t="0"/>
          <a:stretch/>
        </p:blipFill>
        <p:spPr>
          <a:xfrm>
            <a:off x="4987672" y="1924172"/>
            <a:ext cx="6389346" cy="3018965"/>
          </a:xfrm>
          <a:prstGeom prst="rect">
            <a:avLst/>
          </a:prstGeom>
          <a:noFill/>
          <a:ln>
            <a:noFill/>
          </a:ln>
        </p:spPr>
      </p:pic>
      <p:grpSp>
        <p:nvGrpSpPr>
          <p:cNvPr id="179" name="Google Shape;179;p9"/>
          <p:cNvGrpSpPr/>
          <p:nvPr/>
        </p:nvGrpSpPr>
        <p:grpSpPr>
          <a:xfrm flipH="1">
            <a:off x="12068638" y="0"/>
            <a:ext cx="123362" cy="6858000"/>
            <a:chOff x="12068638" y="0"/>
            <a:chExt cx="123362" cy="6858000"/>
          </a:xfrm>
        </p:grpSpPr>
        <p:sp>
          <p:nvSpPr>
            <p:cNvPr id="180" name="Google Shape;180;p9"/>
            <p:cNvSpPr/>
            <p:nvPr/>
          </p:nvSpPr>
          <p:spPr>
            <a:xfrm>
              <a:off x="12068638" y="0"/>
              <a:ext cx="123362" cy="6858000"/>
            </a:xfrm>
            <a:prstGeom prst="rect">
              <a:avLst/>
            </a:prstGeom>
            <a:gradFill>
              <a:gsLst>
                <a:gs pos="0">
                  <a:schemeClr val="accent2"/>
                </a:gs>
                <a:gs pos="100000">
                  <a:schemeClr val="accent5"/>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1" name="Google Shape;181;p9"/>
            <p:cNvSpPr/>
            <p:nvPr/>
          </p:nvSpPr>
          <p:spPr>
            <a:xfrm>
              <a:off x="12068638" y="3527553"/>
              <a:ext cx="123362" cy="3330447"/>
            </a:xfrm>
            <a:prstGeom prst="rect">
              <a:avLst/>
            </a:prstGeom>
            <a:gradFill>
              <a:gsLst>
                <a:gs pos="0">
                  <a:srgbClr val="9CC2E5">
                    <a:alpha val="0"/>
                  </a:srgbClr>
                </a:gs>
                <a:gs pos="19000">
                  <a:srgbClr val="9CC2E5">
                    <a:alpha val="0"/>
                  </a:srgbClr>
                </a:gs>
                <a:gs pos="100000">
                  <a:srgbClr val="9CC2E5"/>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ar-LY"/>
              <a:t>Example of stacks</a:t>
            </a:r>
            <a:br>
              <a:rPr lang="ar-LY"/>
            </a:br>
            <a:r>
              <a:rPr b="1" i="0" lang="ar-LY">
                <a:solidFill>
                  <a:srgbClr val="0D0D0D"/>
                </a:solidFill>
                <a:latin typeface="Arial"/>
                <a:ea typeface="Arial"/>
                <a:cs typeface="Arial"/>
                <a:sym typeface="Arial"/>
              </a:rPr>
              <a:t>أمثلة عملية على استخدام المكدسات في الحياة الواقعية:</a:t>
            </a:r>
            <a:br>
              <a:rPr b="1" i="0" lang="ar-LY">
                <a:solidFill>
                  <a:srgbClr val="0D0D0D"/>
                </a:solidFill>
                <a:latin typeface="Arial"/>
                <a:ea typeface="Arial"/>
                <a:cs typeface="Arial"/>
                <a:sym typeface="Arial"/>
              </a:rPr>
            </a:br>
            <a:endParaRPr/>
          </a:p>
        </p:txBody>
      </p:sp>
      <p:sp>
        <p:nvSpPr>
          <p:cNvPr id="187" name="Google Shape;187;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55000" lnSpcReduction="20000"/>
          </a:bodyPr>
          <a:lstStyle/>
          <a:p>
            <a:pPr indent="-228600" lvl="0" marL="228600" rtl="1" algn="r">
              <a:lnSpc>
                <a:spcPct val="90000"/>
              </a:lnSpc>
              <a:spcBef>
                <a:spcPts val="0"/>
              </a:spcBef>
              <a:spcAft>
                <a:spcPts val="0"/>
              </a:spcAft>
              <a:buClr>
                <a:srgbClr val="0D0D0D"/>
              </a:buClr>
              <a:buSzPct val="100000"/>
              <a:buFont typeface="Calibri"/>
              <a:buAutoNum type="arabicPeriod"/>
            </a:pPr>
            <a:r>
              <a:rPr b="1" i="0" lang="ar-LY">
                <a:solidFill>
                  <a:srgbClr val="0D0D0D"/>
                </a:solidFill>
                <a:latin typeface="Arial"/>
                <a:ea typeface="Arial"/>
                <a:cs typeface="Arial"/>
                <a:sym typeface="Arial"/>
              </a:rPr>
              <a:t>التراجع في التطبيقات (Undo in Applications):</a:t>
            </a:r>
            <a:endParaRPr b="0" i="0">
              <a:solidFill>
                <a:srgbClr val="0D0D0D"/>
              </a:solidFill>
              <a:latin typeface="Arial"/>
              <a:ea typeface="Arial"/>
              <a:cs typeface="Arial"/>
              <a:sym typeface="Arial"/>
            </a:endParaRPr>
          </a:p>
          <a:p>
            <a:pPr indent="-285750" lvl="1" marL="742950" rtl="1" algn="r">
              <a:lnSpc>
                <a:spcPct val="90000"/>
              </a:lnSpc>
              <a:spcBef>
                <a:spcPts val="500"/>
              </a:spcBef>
              <a:spcAft>
                <a:spcPts val="0"/>
              </a:spcAft>
              <a:buClr>
                <a:srgbClr val="0D0D0D"/>
              </a:buClr>
              <a:buSzPct val="100000"/>
              <a:buFont typeface="Calibri"/>
              <a:buAutoNum type="arabicPeriod"/>
            </a:pPr>
            <a:r>
              <a:rPr b="0" i="0" lang="ar-LY">
                <a:solidFill>
                  <a:srgbClr val="0D0D0D"/>
                </a:solidFill>
                <a:latin typeface="Arial"/>
                <a:ea typeface="Arial"/>
                <a:cs typeface="Arial"/>
                <a:sym typeface="Arial"/>
              </a:rPr>
              <a:t>معظم تطبيقات البرمجيات مثل معالجات النصوص (مثل Microsoft Word) تستخدم المكدسات لتنفيذ وظيفة التراجع (Undo). كل عملية يتم تنفيذها تُضاف إلى المكدس، وعند تنفيذ التراجع يتم إزالة آخر عملية من المكدس.</a:t>
            </a:r>
            <a:endParaRPr/>
          </a:p>
          <a:p>
            <a:pPr indent="-228600" lvl="0" marL="228600" rtl="1" algn="r">
              <a:lnSpc>
                <a:spcPct val="90000"/>
              </a:lnSpc>
              <a:spcBef>
                <a:spcPts val="1000"/>
              </a:spcBef>
              <a:spcAft>
                <a:spcPts val="0"/>
              </a:spcAft>
              <a:buClr>
                <a:srgbClr val="0D0D0D"/>
              </a:buClr>
              <a:buSzPct val="100000"/>
              <a:buFont typeface="Calibri"/>
              <a:buAutoNum type="arabicPeriod"/>
            </a:pPr>
            <a:r>
              <a:rPr b="1" i="0" lang="ar-LY">
                <a:solidFill>
                  <a:srgbClr val="0D0D0D"/>
                </a:solidFill>
                <a:latin typeface="Arial"/>
                <a:ea typeface="Arial"/>
                <a:cs typeface="Arial"/>
                <a:sym typeface="Arial"/>
              </a:rPr>
              <a:t>تنفيذ العبارات البرمجية (Expression Evaluation):</a:t>
            </a:r>
            <a:endParaRPr b="0" i="0">
              <a:solidFill>
                <a:srgbClr val="0D0D0D"/>
              </a:solidFill>
              <a:latin typeface="Arial"/>
              <a:ea typeface="Arial"/>
              <a:cs typeface="Arial"/>
              <a:sym typeface="Arial"/>
            </a:endParaRPr>
          </a:p>
          <a:p>
            <a:pPr indent="-285750" lvl="1" marL="742950" rtl="1" algn="r">
              <a:lnSpc>
                <a:spcPct val="90000"/>
              </a:lnSpc>
              <a:spcBef>
                <a:spcPts val="500"/>
              </a:spcBef>
              <a:spcAft>
                <a:spcPts val="0"/>
              </a:spcAft>
              <a:buClr>
                <a:srgbClr val="0D0D0D"/>
              </a:buClr>
              <a:buSzPct val="100000"/>
              <a:buFont typeface="Calibri"/>
              <a:buAutoNum type="arabicPeriod"/>
            </a:pPr>
            <a:r>
              <a:rPr b="0" i="0" lang="ar-LY">
                <a:solidFill>
                  <a:srgbClr val="0D0D0D"/>
                </a:solidFill>
                <a:latin typeface="Arial"/>
                <a:ea typeface="Arial"/>
                <a:cs typeface="Arial"/>
                <a:sym typeface="Arial"/>
              </a:rPr>
              <a:t>يستخدم المترجمون والمفسرون المكدسات لتقييم العبارات الرياضية والمناطقية. يتم استخدام المكدس لتخزين الأرقام والعوامل مؤقتًا أثناء التقييم.</a:t>
            </a:r>
            <a:endParaRPr/>
          </a:p>
          <a:p>
            <a:pPr indent="-228600" lvl="0" marL="228600" rtl="1" algn="r">
              <a:lnSpc>
                <a:spcPct val="90000"/>
              </a:lnSpc>
              <a:spcBef>
                <a:spcPts val="1000"/>
              </a:spcBef>
              <a:spcAft>
                <a:spcPts val="0"/>
              </a:spcAft>
              <a:buClr>
                <a:srgbClr val="0D0D0D"/>
              </a:buClr>
              <a:buSzPct val="100000"/>
              <a:buFont typeface="Calibri"/>
              <a:buAutoNum type="arabicPeriod"/>
            </a:pPr>
            <a:r>
              <a:rPr b="1" i="0" lang="ar-LY">
                <a:solidFill>
                  <a:srgbClr val="0D0D0D"/>
                </a:solidFill>
                <a:latin typeface="Arial"/>
                <a:ea typeface="Arial"/>
                <a:cs typeface="Arial"/>
                <a:sym typeface="Arial"/>
              </a:rPr>
              <a:t>إدارة استدعاءات الوظائف التكرارية (Managing Function Calls in Recursion):</a:t>
            </a:r>
            <a:endParaRPr b="0" i="0">
              <a:solidFill>
                <a:srgbClr val="0D0D0D"/>
              </a:solidFill>
              <a:latin typeface="Arial"/>
              <a:ea typeface="Arial"/>
              <a:cs typeface="Arial"/>
              <a:sym typeface="Arial"/>
            </a:endParaRPr>
          </a:p>
          <a:p>
            <a:pPr indent="-285750" lvl="1" marL="742950" rtl="1" algn="r">
              <a:lnSpc>
                <a:spcPct val="90000"/>
              </a:lnSpc>
              <a:spcBef>
                <a:spcPts val="500"/>
              </a:spcBef>
              <a:spcAft>
                <a:spcPts val="0"/>
              </a:spcAft>
              <a:buClr>
                <a:srgbClr val="0D0D0D"/>
              </a:buClr>
              <a:buSzPct val="100000"/>
              <a:buFont typeface="Calibri"/>
              <a:buAutoNum type="arabicPeriod"/>
            </a:pPr>
            <a:r>
              <a:rPr b="0" i="0" lang="ar-LY">
                <a:solidFill>
                  <a:srgbClr val="0D0D0D"/>
                </a:solidFill>
                <a:latin typeface="Arial"/>
                <a:ea typeface="Arial"/>
                <a:cs typeface="Arial"/>
                <a:sym typeface="Arial"/>
              </a:rPr>
              <a:t>يتم استخدام المكدسات لتتبع استدعاءات الوظائف التكرارية. كل استدعاء وظيفة يضيف إطارًا جديدًا إلى المكدس، وعند إتمام الوظيفة يتم إزالة الإطار من المكدس.</a:t>
            </a:r>
            <a:endParaRPr/>
          </a:p>
          <a:p>
            <a:pPr indent="-228600" lvl="0" marL="228600" rtl="1" algn="r">
              <a:lnSpc>
                <a:spcPct val="90000"/>
              </a:lnSpc>
              <a:spcBef>
                <a:spcPts val="1000"/>
              </a:spcBef>
              <a:spcAft>
                <a:spcPts val="0"/>
              </a:spcAft>
              <a:buClr>
                <a:srgbClr val="0D0D0D"/>
              </a:buClr>
              <a:buSzPct val="100000"/>
              <a:buFont typeface="Calibri"/>
              <a:buAutoNum type="arabicPeriod"/>
            </a:pPr>
            <a:r>
              <a:rPr b="1" i="0" lang="ar-LY">
                <a:solidFill>
                  <a:srgbClr val="0D0D0D"/>
                </a:solidFill>
                <a:latin typeface="Arial"/>
                <a:ea typeface="Arial"/>
                <a:cs typeface="Arial"/>
                <a:sym typeface="Arial"/>
              </a:rPr>
              <a:t>تحليل الصيغ الرياضية (Parsing Arithmetic Expressions):</a:t>
            </a:r>
            <a:endParaRPr b="0" i="0">
              <a:solidFill>
                <a:srgbClr val="0D0D0D"/>
              </a:solidFill>
              <a:latin typeface="Arial"/>
              <a:ea typeface="Arial"/>
              <a:cs typeface="Arial"/>
              <a:sym typeface="Arial"/>
            </a:endParaRPr>
          </a:p>
          <a:p>
            <a:pPr indent="-285750" lvl="1" marL="742950" rtl="1" algn="r">
              <a:lnSpc>
                <a:spcPct val="90000"/>
              </a:lnSpc>
              <a:spcBef>
                <a:spcPts val="500"/>
              </a:spcBef>
              <a:spcAft>
                <a:spcPts val="0"/>
              </a:spcAft>
              <a:buClr>
                <a:srgbClr val="0D0D0D"/>
              </a:buClr>
              <a:buSzPct val="100000"/>
              <a:buFont typeface="Calibri"/>
              <a:buAutoNum type="arabicPeriod"/>
            </a:pPr>
            <a:r>
              <a:rPr b="0" i="0" lang="ar-LY">
                <a:solidFill>
                  <a:srgbClr val="0D0D0D"/>
                </a:solidFill>
                <a:latin typeface="Arial"/>
                <a:ea typeface="Arial"/>
                <a:cs typeface="Arial"/>
                <a:sym typeface="Arial"/>
              </a:rPr>
              <a:t>تحليل الصيغ الرياضية يتم باستخدام مكدس لتحويل التعبيرات من الصيغة الاعتيادية (Infix) إلى الصيغة العكسية (Postfix) أو البولندية (Prefix).</a:t>
            </a:r>
            <a:endParaRPr/>
          </a:p>
          <a:p>
            <a:pPr indent="-228600" lvl="0" marL="228600" rtl="1" algn="r">
              <a:lnSpc>
                <a:spcPct val="90000"/>
              </a:lnSpc>
              <a:spcBef>
                <a:spcPts val="1000"/>
              </a:spcBef>
              <a:spcAft>
                <a:spcPts val="0"/>
              </a:spcAft>
              <a:buClr>
                <a:srgbClr val="0D0D0D"/>
              </a:buClr>
              <a:buSzPct val="100000"/>
              <a:buFont typeface="Calibri"/>
              <a:buAutoNum type="arabicPeriod"/>
            </a:pPr>
            <a:r>
              <a:rPr b="1" i="0" lang="ar-LY">
                <a:solidFill>
                  <a:srgbClr val="0D0D0D"/>
                </a:solidFill>
                <a:latin typeface="Arial"/>
                <a:ea typeface="Arial"/>
                <a:cs typeface="Arial"/>
                <a:sym typeface="Arial"/>
              </a:rPr>
              <a:t>معالجة النصوص (Text Processing):</a:t>
            </a:r>
            <a:endParaRPr b="0" i="0">
              <a:solidFill>
                <a:srgbClr val="0D0D0D"/>
              </a:solidFill>
              <a:latin typeface="Arial"/>
              <a:ea typeface="Arial"/>
              <a:cs typeface="Arial"/>
              <a:sym typeface="Arial"/>
            </a:endParaRPr>
          </a:p>
          <a:p>
            <a:pPr indent="-285750" lvl="1" marL="742950" rtl="1" algn="r">
              <a:lnSpc>
                <a:spcPct val="90000"/>
              </a:lnSpc>
              <a:spcBef>
                <a:spcPts val="500"/>
              </a:spcBef>
              <a:spcAft>
                <a:spcPts val="0"/>
              </a:spcAft>
              <a:buClr>
                <a:srgbClr val="0D0D0D"/>
              </a:buClr>
              <a:buSzPct val="100000"/>
              <a:buFont typeface="Calibri"/>
              <a:buAutoNum type="arabicPeriod"/>
            </a:pPr>
            <a:r>
              <a:rPr b="0" i="0" lang="ar-LY">
                <a:solidFill>
                  <a:srgbClr val="0D0D0D"/>
                </a:solidFill>
                <a:latin typeface="Arial"/>
                <a:ea typeface="Arial"/>
                <a:cs typeface="Arial"/>
                <a:sym typeface="Arial"/>
              </a:rPr>
              <a:t>يستخدم المكدس لتحديد صلاحية الأقواس في النصوص البرمجية أو النصوص الرياضية. يتم دفع الأقواس المفتوحة إلى المكدس وعند مصادفة قوس مغلق يتم مقارنته مع العنصر العلوي في المكدس.</a:t>
            </a:r>
            <a:endParaRPr/>
          </a:p>
          <a:p>
            <a:pPr indent="-228600" lvl="0" marL="228600" rtl="1" algn="r">
              <a:lnSpc>
                <a:spcPct val="90000"/>
              </a:lnSpc>
              <a:spcBef>
                <a:spcPts val="1000"/>
              </a:spcBef>
              <a:spcAft>
                <a:spcPts val="0"/>
              </a:spcAft>
              <a:buClr>
                <a:srgbClr val="0D0D0D"/>
              </a:buClr>
              <a:buSzPct val="100000"/>
              <a:buFont typeface="Calibri"/>
              <a:buAutoNum type="arabicPeriod"/>
            </a:pPr>
            <a:r>
              <a:rPr b="1" i="0" lang="ar-LY">
                <a:solidFill>
                  <a:srgbClr val="0D0D0D"/>
                </a:solidFill>
                <a:latin typeface="Arial"/>
                <a:ea typeface="Arial"/>
                <a:cs typeface="Arial"/>
                <a:sym typeface="Arial"/>
              </a:rPr>
              <a:t>نظام المكالمات الهاتفية (Call Stack in Telecommunication Systems):</a:t>
            </a:r>
            <a:endParaRPr b="0" i="0">
              <a:solidFill>
                <a:srgbClr val="0D0D0D"/>
              </a:solidFill>
              <a:latin typeface="Arial"/>
              <a:ea typeface="Arial"/>
              <a:cs typeface="Arial"/>
              <a:sym typeface="Arial"/>
            </a:endParaRPr>
          </a:p>
          <a:p>
            <a:pPr indent="-285750" lvl="1" marL="742950" rtl="1" algn="r">
              <a:lnSpc>
                <a:spcPct val="90000"/>
              </a:lnSpc>
              <a:spcBef>
                <a:spcPts val="500"/>
              </a:spcBef>
              <a:spcAft>
                <a:spcPts val="0"/>
              </a:spcAft>
              <a:buClr>
                <a:srgbClr val="0D0D0D"/>
              </a:buClr>
              <a:buSzPct val="100000"/>
              <a:buFont typeface="Calibri"/>
              <a:buAutoNum type="arabicPeriod"/>
            </a:pPr>
            <a:r>
              <a:rPr b="0" i="0" lang="ar-LY">
                <a:solidFill>
                  <a:srgbClr val="0D0D0D"/>
                </a:solidFill>
                <a:latin typeface="Arial"/>
                <a:ea typeface="Arial"/>
                <a:cs typeface="Arial"/>
                <a:sym typeface="Arial"/>
              </a:rPr>
              <a:t>في الأنظمة الهاتفية الحديثة، يتم استخدام المكدسات لتتبع المكالمات الهاتفية النشطة، حيث يتم إضافة كل مكالمة جديدة إلى المكدس وعند انتهاء المكالمة يتم إزالتها من المكدس.</a:t>
            </a:r>
            <a:endParaRPr/>
          </a:p>
          <a:p>
            <a:pPr indent="-228600" lvl="0" marL="228600" rtl="1" algn="r">
              <a:lnSpc>
                <a:spcPct val="90000"/>
              </a:lnSpc>
              <a:spcBef>
                <a:spcPts val="1000"/>
              </a:spcBef>
              <a:spcAft>
                <a:spcPts val="0"/>
              </a:spcAft>
              <a:buClr>
                <a:srgbClr val="0D0D0D"/>
              </a:buClr>
              <a:buSzPct val="100000"/>
              <a:buFont typeface="Calibri"/>
              <a:buAutoNum type="arabicPeriod"/>
            </a:pPr>
            <a:r>
              <a:rPr b="1" i="0" lang="ar-LY">
                <a:solidFill>
                  <a:srgbClr val="0D0D0D"/>
                </a:solidFill>
                <a:latin typeface="Arial"/>
                <a:ea typeface="Arial"/>
                <a:cs typeface="Arial"/>
                <a:sym typeface="Arial"/>
              </a:rPr>
              <a:t>تصميم الألعاب (Game Design):</a:t>
            </a:r>
            <a:endParaRPr b="0" i="0">
              <a:solidFill>
                <a:srgbClr val="0D0D0D"/>
              </a:solidFill>
              <a:latin typeface="Arial"/>
              <a:ea typeface="Arial"/>
              <a:cs typeface="Arial"/>
              <a:sym typeface="Arial"/>
            </a:endParaRPr>
          </a:p>
          <a:p>
            <a:pPr indent="-285750" lvl="1" marL="742950" rtl="1" algn="r">
              <a:lnSpc>
                <a:spcPct val="90000"/>
              </a:lnSpc>
              <a:spcBef>
                <a:spcPts val="500"/>
              </a:spcBef>
              <a:spcAft>
                <a:spcPts val="0"/>
              </a:spcAft>
              <a:buClr>
                <a:srgbClr val="0D0D0D"/>
              </a:buClr>
              <a:buSzPct val="100000"/>
              <a:buFont typeface="Calibri"/>
              <a:buAutoNum type="arabicPeriod"/>
            </a:pPr>
            <a:r>
              <a:rPr b="0" i="0" lang="ar-LY">
                <a:solidFill>
                  <a:srgbClr val="0D0D0D"/>
                </a:solidFill>
                <a:latin typeface="Arial"/>
                <a:ea typeface="Arial"/>
                <a:cs typeface="Arial"/>
                <a:sym typeface="Arial"/>
              </a:rPr>
              <a:t>في تطوير الألعاب، يتم استخدام المكدسات لتتبع حالة اللعبة والتنقل بين الشاشات المختلفة. كل حالة جديدة تضيف إلى المكدس وعند العودة إلى الحالة السابقة يتم إزالة الحالة الحالية.</a:t>
            </a:r>
            <a:endParaRPr/>
          </a:p>
          <a:p>
            <a:pPr indent="-228600" lvl="0" marL="228600" rtl="1" algn="r">
              <a:lnSpc>
                <a:spcPct val="90000"/>
              </a:lnSpc>
              <a:spcBef>
                <a:spcPts val="1000"/>
              </a:spcBef>
              <a:spcAft>
                <a:spcPts val="0"/>
              </a:spcAft>
              <a:buClr>
                <a:srgbClr val="0D0D0D"/>
              </a:buClr>
              <a:buSzPct val="100000"/>
              <a:buFont typeface="Calibri"/>
              <a:buAutoNum type="arabicPeriod"/>
            </a:pPr>
            <a:r>
              <a:rPr b="1" i="0" lang="ar-LY">
                <a:solidFill>
                  <a:srgbClr val="0D0D0D"/>
                </a:solidFill>
                <a:latin typeface="Arial"/>
                <a:ea typeface="Arial"/>
                <a:cs typeface="Arial"/>
                <a:sym typeface="Arial"/>
              </a:rPr>
              <a:t>خوارزميات البحث (Search Algorithms):</a:t>
            </a:r>
            <a:endParaRPr b="0" i="0">
              <a:solidFill>
                <a:srgbClr val="0D0D0D"/>
              </a:solidFill>
              <a:latin typeface="Arial"/>
              <a:ea typeface="Arial"/>
              <a:cs typeface="Arial"/>
              <a:sym typeface="Arial"/>
            </a:endParaRPr>
          </a:p>
          <a:p>
            <a:pPr indent="-285750" lvl="1" marL="742950" rtl="1" algn="r">
              <a:lnSpc>
                <a:spcPct val="90000"/>
              </a:lnSpc>
              <a:spcBef>
                <a:spcPts val="500"/>
              </a:spcBef>
              <a:spcAft>
                <a:spcPts val="0"/>
              </a:spcAft>
              <a:buClr>
                <a:srgbClr val="0D0D0D"/>
              </a:buClr>
              <a:buSzPct val="100000"/>
              <a:buFont typeface="Calibri"/>
              <a:buAutoNum type="arabicPeriod"/>
            </a:pPr>
            <a:r>
              <a:rPr b="0" i="0" lang="ar-LY">
                <a:solidFill>
                  <a:srgbClr val="0D0D0D"/>
                </a:solidFill>
                <a:latin typeface="Arial"/>
                <a:ea typeface="Arial"/>
                <a:cs typeface="Arial"/>
                <a:sym typeface="Arial"/>
              </a:rPr>
              <a:t>تستخدم خوارزميات البحث مثل البحث بالعمق (Depth-First Search) المكدسات لتتبع العقد التي سيتم زيارتها في الرسم البياني أو الشجرة.</a:t>
            </a:r>
            <a:endParaRPr/>
          </a:p>
          <a:p>
            <a:pPr indent="-130810" lvl="0" marL="228600" rtl="1" algn="r">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1" name="Shape 191"/>
        <p:cNvGrpSpPr/>
        <p:nvPr/>
      </p:nvGrpSpPr>
      <p:grpSpPr>
        <a:xfrm>
          <a:off x="0" y="0"/>
          <a:ext cx="0" cy="0"/>
          <a:chOff x="0" y="0"/>
          <a:chExt cx="0" cy="0"/>
        </a:xfrm>
      </p:grpSpPr>
      <p:sp>
        <p:nvSpPr>
          <p:cNvPr id="192" name="Google Shape;192;p11"/>
          <p:cNvSpPr/>
          <p:nvPr/>
        </p:nvSpPr>
        <p:spPr>
          <a:xfrm>
            <a:off x="638175" y="0"/>
            <a:ext cx="3248025" cy="3400426"/>
          </a:xfrm>
          <a:prstGeom prst="flowChartDocument">
            <a:avLst/>
          </a:prstGeom>
          <a:solidFill>
            <a:srgbClr val="8E47A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3" name="Google Shape;193;p11"/>
          <p:cNvSpPr txBox="1"/>
          <p:nvPr>
            <p:ph type="title"/>
          </p:nvPr>
        </p:nvSpPr>
        <p:spPr>
          <a:xfrm>
            <a:off x="838200" y="171162"/>
            <a:ext cx="2840182" cy="23711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alibri"/>
              <a:buNone/>
            </a:pPr>
            <a:r>
              <a:rPr b="1" lang="ar-LY" sz="3200">
                <a:solidFill>
                  <a:srgbClr val="FFFFFF"/>
                </a:solidFill>
                <a:latin typeface="Calibri"/>
                <a:ea typeface="Calibri"/>
                <a:cs typeface="Calibri"/>
                <a:sym typeface="Calibri"/>
              </a:rPr>
              <a:t>Python code (Stack )</a:t>
            </a:r>
            <a:br>
              <a:rPr b="1" lang="ar-LY" sz="3200">
                <a:solidFill>
                  <a:srgbClr val="FFFFFF"/>
                </a:solidFill>
                <a:latin typeface="Calibri"/>
                <a:ea typeface="Calibri"/>
                <a:cs typeface="Calibri"/>
                <a:sym typeface="Calibri"/>
              </a:rPr>
            </a:br>
            <a:endParaRPr sz="3200">
              <a:solidFill>
                <a:srgbClr val="FFFFFF"/>
              </a:solidFill>
              <a:latin typeface="Calibri"/>
              <a:ea typeface="Calibri"/>
              <a:cs typeface="Calibri"/>
              <a:sym typeface="Calibri"/>
            </a:endParaRPr>
          </a:p>
        </p:txBody>
      </p:sp>
      <p:pic>
        <p:nvPicPr>
          <p:cNvPr descr="A screenshot of a computer program&#10;&#10;Description automatically generated" id="194" name="Google Shape;194;p11"/>
          <p:cNvPicPr preferRelativeResize="0"/>
          <p:nvPr>
            <p:ph idx="1" type="body"/>
          </p:nvPr>
        </p:nvPicPr>
        <p:blipFill rotWithShape="1">
          <a:blip r:embed="rId3">
            <a:alphaModFix/>
          </a:blip>
          <a:srcRect b="559" l="0" r="-2" t="6720"/>
          <a:stretch/>
        </p:blipFill>
        <p:spPr>
          <a:xfrm>
            <a:off x="5083815" y="640080"/>
            <a:ext cx="5595772" cy="55788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2024-05-25T14:20:09Z</dcterms:created>
  <dc:creator>Mo Hawedi</dc:creator>
</cp:coreProperties>
</file>