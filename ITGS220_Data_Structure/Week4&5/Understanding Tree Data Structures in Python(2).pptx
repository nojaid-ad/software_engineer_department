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B+k4RgeKKW03PFjARjuflUUao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2197101" y="735283"/>
            <a:ext cx="4978399" cy="3165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/>
              <a:t>Understanding Tree Data Structures in Python</a:t>
            </a:r>
            <a:endParaRPr sz="5200"/>
          </a:p>
        </p:txBody>
      </p:sp>
      <p:pic>
        <p:nvPicPr>
          <p:cNvPr descr="Head with Gears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549" y="2776619"/>
            <a:ext cx="1289051" cy="1289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d with Gears" id="87" name="Google Shape;87;p1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6607815" y="716407"/>
            <a:ext cx="5411343" cy="541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Trees 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3119" y="3005847"/>
            <a:ext cx="4237369" cy="26317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2"/>
          <p:cNvGrpSpPr/>
          <p:nvPr/>
        </p:nvGrpSpPr>
        <p:grpSpPr>
          <a:xfrm>
            <a:off x="640921" y="2706624"/>
            <a:ext cx="6892892" cy="3483864"/>
            <a:chOff x="841" y="0"/>
            <a:chExt cx="6892892" cy="3483864"/>
          </a:xfrm>
        </p:grpSpPr>
        <p:sp>
          <p:nvSpPr>
            <p:cNvPr id="97" name="Google Shape;97;p2"/>
            <p:cNvSpPr/>
            <p:nvPr/>
          </p:nvSpPr>
          <p:spPr>
            <a:xfrm>
              <a:off x="841" y="0"/>
              <a:ext cx="3282329" cy="3483864"/>
            </a:xfrm>
            <a:prstGeom prst="rect">
              <a:avLst/>
            </a:prstGeom>
            <a:solidFill>
              <a:srgbClr val="F6D4CC">
                <a:alpha val="89803"/>
              </a:srgbClr>
            </a:solidFill>
            <a:ln cap="flat" cmpd="sng" w="12700">
              <a:solidFill>
                <a:srgbClr val="F6D4CC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841" y="1323868"/>
              <a:ext cx="3282329" cy="209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5900" spcFirstLastPara="1" rIns="255900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تعريف: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هياكل الشجرة هي طريقة هرمية لتخزين البيانات، حيث كل عنصر هو عقدة والعقد مرتبطة ببعضها البعض عبر الحواف.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119426" y="348386"/>
              <a:ext cx="1045159" cy="1045159"/>
            </a:xfrm>
            <a:prstGeom prst="ellipse">
              <a:avLst/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 cap="flat" cmpd="sng" w="12700">
              <a:solidFill>
                <a:srgbClr val="E9713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272486" y="501446"/>
              <a:ext cx="739039" cy="739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1475" spcFirstLastPara="1" rIns="81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841" y="3483792"/>
              <a:ext cx="3282329" cy="72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 cap="flat" cmpd="sng" w="12700">
              <a:solidFill>
                <a:srgbClr val="176B2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3611404" y="0"/>
              <a:ext cx="3282329" cy="3483864"/>
            </a:xfrm>
            <a:prstGeom prst="rect">
              <a:avLst/>
            </a:prstGeom>
            <a:solidFill>
              <a:srgbClr val="CBD3CB">
                <a:alpha val="89803"/>
              </a:srgbClr>
            </a:solidFill>
            <a:ln cap="flat" cmpd="sng" w="12700">
              <a:solidFill>
                <a:srgbClr val="CBD3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3611404" y="1323868"/>
              <a:ext cx="3282329" cy="209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5900" spcFirstLastPara="1" rIns="255900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الأهمية: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تُستخدم في تطبيقات متعددة مثل قواعد البيانات، نظم الملفات، وتوجيه الشبكات.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4729989" y="348386"/>
              <a:ext cx="1045159" cy="1045159"/>
            </a:xfrm>
            <a:prstGeom prst="ellipse">
              <a:avLst/>
            </a:prstGeom>
            <a:gradFill>
              <a:gsLst>
                <a:gs pos="0">
                  <a:srgbClr val="47A9DE"/>
                </a:gs>
                <a:gs pos="50000">
                  <a:srgbClr val="00A2DF"/>
                </a:gs>
                <a:gs pos="100000">
                  <a:srgbClr val="0093CC"/>
                </a:gs>
              </a:gsLst>
              <a:lin ang="5400000" scaled="0"/>
            </a:gradFill>
            <a:ln cap="flat" cmpd="sng" w="12700">
              <a:solidFill>
                <a:srgbClr val="0C9ED5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4883049" y="501446"/>
              <a:ext cx="739039" cy="739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1475" spcFirstLastPara="1" rIns="81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611404" y="3483792"/>
              <a:ext cx="3282329" cy="72"/>
            </a:xfrm>
            <a:prstGeom prst="rect">
              <a:avLst/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 cap="flat" cmpd="sng" w="12700">
              <a:solidFill>
                <a:srgbClr val="A0289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46745" y="640080"/>
            <a:ext cx="10920415" cy="557781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>
            <p:ph type="title"/>
          </p:nvPr>
        </p:nvSpPr>
        <p:spPr>
          <a:xfrm>
            <a:off x="1452656" y="1444741"/>
            <a:ext cx="9357865" cy="104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Tree Terminology </a:t>
            </a:r>
            <a:r>
              <a:rPr lang="en-US" sz="1600"/>
              <a:t>مصطلحات الشجرة</a:t>
            </a:r>
            <a:endParaRPr sz="4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1452656" y="2701427"/>
            <a:ext cx="4483324" cy="26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لعقدة:</a:t>
            </a:r>
            <a:r>
              <a:rPr b="0" i="0" lang="en-US" sz="1700" u="none" cap="none" strike="noStrike"/>
              <a:t> وحدة أساسية تحتوي على البيانات.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الجذر:</a:t>
            </a:r>
            <a:r>
              <a:rPr b="0" i="0" lang="en-US" sz="1700" u="none" cap="none" strike="noStrike"/>
              <a:t> العقدة العليا بدون والد.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الطفل:</a:t>
            </a:r>
            <a:r>
              <a:rPr b="0" i="0" lang="en-US" sz="1700" u="none" cap="none" strike="noStrike"/>
              <a:t> عقدة متصلة مباشرة بعقدة أخرى.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الوالد:</a:t>
            </a:r>
            <a:r>
              <a:rPr b="0" i="0" lang="en-US" sz="1700" u="none" cap="none" strike="noStrike"/>
              <a:t> عقدة لديها أطفال.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الورقة:</a:t>
            </a:r>
            <a:r>
              <a:rPr b="0" i="0" lang="en-US" sz="1700" u="none" cap="none" strike="noStrike"/>
              <a:t> عقدة بدون أطفال.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الشجرة الفرعية:</a:t>
            </a:r>
            <a:r>
              <a:rPr b="0" i="0" lang="en-US" sz="1700" u="none" cap="none" strike="noStrike"/>
              <a:t> شجرة داخل شجرة أخرى.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العمق:</a:t>
            </a:r>
            <a:r>
              <a:rPr b="0" i="0" lang="en-US" sz="1700" u="none" cap="none" strike="noStrike"/>
              <a:t> المسافة من الجذر إلى العقدة.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الارتفاع:</a:t>
            </a:r>
            <a:r>
              <a:rPr b="0" i="0" lang="en-US" sz="1700" u="none" cap="none" strike="noStrike"/>
              <a:t> المسافة من العقدة إلى أعمق ورقة.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6256020" y="2701427"/>
            <a:ext cx="4554501" cy="26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element containing data.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top node without a parent.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directly under another node.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Parent: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with child nodes.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without children.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tree within another tree.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from the root to the node.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from the node to the deepest leaf.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Tree terminology</a:t>
            </a:r>
            <a:endParaRPr/>
          </a:p>
        </p:txBody>
      </p:sp>
      <p:pic>
        <p:nvPicPr>
          <p:cNvPr id="123" name="Google Shape;12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8271" y="1675227"/>
            <a:ext cx="7675457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 rot="10800000">
            <a:off x="0" y="0"/>
            <a:ext cx="12192000" cy="2371134"/>
          </a:xfrm>
          <a:custGeom>
            <a:rect b="b" l="l" r="r" t="t"/>
            <a:pathLst>
              <a:path extrusionOk="0" h="2515690" w="1219200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 txBox="1"/>
          <p:nvPr>
            <p:ph type="title"/>
          </p:nvPr>
        </p:nvSpPr>
        <p:spPr>
          <a:xfrm>
            <a:off x="838200" y="365125"/>
            <a:ext cx="1051560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Edge </a:t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7544987" y="1712571"/>
            <a:ext cx="4081188" cy="3432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تحدد الحواف العلاقات بين العقد في الشجرة.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خصائص: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كل حافة تربط بين عقدتين.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الشجرة، يكون كل عقدة (باستثناء الجذر) مرتبطة بوالد واحد على الأقل.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يمكن أن تحتوي الحواف على وزن (weight) أو قيمة إضافية تستخدم في العمليات مثل التصفح أو البحث.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أنواع الحواف: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حافة موجهة (Directed Edge):</a:t>
            </a: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تسمح بالتنقل من عقدة إلى عقدة محددة في اتجاه معين.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حافة غير موجهة (Undirected Edge):</a:t>
            </a: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تسمح بالتنقل بين عقدتين في كلا الاتجاهين بدون تحديد اتجاه معين.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الرمزية: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الحواف في الرسم التخطيطي للشجرة تمثل بخط مستقيم يربط بين العقدتين المرتبطتين به.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مثال توضيحي: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عرض مخطط بسيط لشجرة يتضمن عقد واحد مع حافتين موجهتين وحافة غير موجهة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929" y="274735"/>
            <a:ext cx="2206437" cy="1821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/>
        </p:nvSpPr>
        <p:spPr>
          <a:xfrm>
            <a:off x="838200" y="1475605"/>
            <a:ext cx="4809256" cy="228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الحواف تمثل الروابط بين العقد في هيكل الشجرة.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يمكن أن تكون الحواف موجهة أو غير موجهة وقد تحتوي على وزن.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تُستخدم الحواف في العديد من العمليات مثل التصفح والبحث والربط بين العقد.</a:t>
            </a:r>
            <a:endParaRPr/>
          </a:p>
          <a:p>
            <a:pPr indent="0" lvl="0" marL="0" marR="0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التطبيقات: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الرسم البياني للشبكات، تُمثل الحواف الارتباطات بين العقد.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البحث عن أقصر مسار في الرسوم البيانية، تُستخدم الحواف لحساب الأوزان والمسافات.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263" y="4174861"/>
            <a:ext cx="3619814" cy="228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>
            <p:ph type="title"/>
          </p:nvPr>
        </p:nvSpPr>
        <p:spPr>
          <a:xfrm>
            <a:off x="838200" y="557189"/>
            <a:ext cx="10515600" cy="2057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examples</a:t>
            </a:r>
            <a:endParaRPr/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099" y="3475320"/>
            <a:ext cx="3797536" cy="2136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3386" y="3494308"/>
            <a:ext cx="3797536" cy="209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2673" y="3822790"/>
            <a:ext cx="3797537" cy="20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tree</a:t>
            </a:r>
            <a:endParaRPr/>
          </a:p>
        </p:txBody>
      </p:sp>
      <p:pic>
        <p:nvPicPr>
          <p:cNvPr id="150" name="Google Shape;150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4291" l="-135" r="135" t="1089"/>
          <a:stretch/>
        </p:blipFill>
        <p:spPr>
          <a:xfrm>
            <a:off x="643467" y="1858355"/>
            <a:ext cx="10905066" cy="4027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>
            <p:ph type="title"/>
          </p:nvPr>
        </p:nvSpPr>
        <p:spPr>
          <a:xfrm>
            <a:off x="429768" y="411480"/>
            <a:ext cx="1113129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600"/>
              <a:t>Root node 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7"/>
          <p:cNvPicPr preferRelativeResize="0"/>
          <p:nvPr/>
        </p:nvPicPr>
        <p:blipFill rotWithShape="1">
          <a:blip r:embed="rId3">
            <a:alphaModFix/>
          </a:blip>
          <a:srcRect b="1" l="0" r="37584" t="0"/>
          <a:stretch/>
        </p:blipFill>
        <p:spPr>
          <a:xfrm>
            <a:off x="429767" y="1721922"/>
            <a:ext cx="3419856" cy="452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/>
          <p:cNvPicPr preferRelativeResize="0"/>
          <p:nvPr/>
        </p:nvPicPr>
        <p:blipFill rotWithShape="1">
          <a:blip r:embed="rId4">
            <a:alphaModFix/>
          </a:blip>
          <a:srcRect b="-1" l="5379" r="9759" t="0"/>
          <a:stretch/>
        </p:blipFill>
        <p:spPr>
          <a:xfrm>
            <a:off x="4226837" y="1721922"/>
            <a:ext cx="3420596" cy="452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8024648" y="1721922"/>
            <a:ext cx="3609143" cy="45205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1E1E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>
            <p:ph idx="1" type="body"/>
          </p:nvPr>
        </p:nvSpPr>
        <p:spPr>
          <a:xfrm>
            <a:off x="8309348" y="2020824"/>
            <a:ext cx="295606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لجذر هو العقدة العلوية في الشجرة.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هو العقدة الوحيدة في الشجرة التي لا تمتلك أي والد.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جميع العقد الأخرى في الشجرة هي أحفاد للعقدة الجذرية.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b="1" lang="en-US" sz="1100"/>
              <a:t>الأهمية:</a:t>
            </a:r>
            <a:endParaRPr sz="1100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الجذر يعمل كنقطة البداية في عمليات التصفح.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يمثل الهيكل بأكمله ويربط جميع العقد الأخرى.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العمليات مثل الإدراج والحذف والبحث غالبًا ما تبدأ من الجذر.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b="1" lang="en-US" sz="1100"/>
              <a:t>الخصائص:</a:t>
            </a:r>
            <a:endParaRPr sz="1100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التفرد:</a:t>
            </a:r>
            <a:r>
              <a:rPr lang="en-US" sz="1100"/>
              <a:t> تحتوي الشجرة على جذر واحد فقط.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المستوى:</a:t>
            </a:r>
            <a:r>
              <a:rPr lang="en-US" sz="1100"/>
              <a:t> الجذر يقع في المستوى 0.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الاتصال:</a:t>
            </a:r>
            <a:r>
              <a:rPr lang="en-US" sz="1100"/>
              <a:t> متصل مباشرة أو غير مباشرة بكل عقدة أخرى في الشجرة.</a:t>
            </a:r>
            <a:endParaRPr/>
          </a:p>
          <a:p>
            <a:pPr indent="-15875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661839"/>
            <a:ext cx="10905066" cy="5534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2024-06-23T12:21:51Z</dcterms:created>
  <dc:creator>Mo Hawedi</dc:creator>
</cp:coreProperties>
</file>