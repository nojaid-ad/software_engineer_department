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embeddedFontLst>
    <p:embeddedFont>
      <p:font typeface="Play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-bold.fntdata"/><Relationship Id="rId14" Type="http://schemas.openxmlformats.org/officeDocument/2006/relationships/font" Target="fonts/Pl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 txBox="1"/>
          <p:nvPr>
            <p:ph type="ctrTitle"/>
          </p:nvPr>
        </p:nvSpPr>
        <p:spPr>
          <a:xfrm>
            <a:off x="2197101" y="735283"/>
            <a:ext cx="4978399" cy="31650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lay"/>
              <a:buNone/>
            </a:pPr>
            <a:r>
              <a:rPr lang="en-US" sz="5200"/>
              <a:t>Understanding Tree Data Structures in Python</a:t>
            </a:r>
            <a:endParaRPr sz="5200"/>
          </a:p>
        </p:txBody>
      </p:sp>
      <p:pic>
        <p:nvPicPr>
          <p:cNvPr descr="Head with Gears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7549" y="2776619"/>
            <a:ext cx="1289051" cy="12890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ead with Gears" id="87" name="Google Shape;87;p13"/>
          <p:cNvPicPr preferRelativeResize="0"/>
          <p:nvPr/>
        </p:nvPicPr>
        <p:blipFill rotWithShape="1">
          <a:blip r:embed="rId3">
            <a:alphaModFix amt="15000"/>
          </a:blip>
          <a:srcRect b="0" l="0" r="0" t="0"/>
          <a:stretch/>
        </p:blipFill>
        <p:spPr>
          <a:xfrm>
            <a:off x="6607815" y="716407"/>
            <a:ext cx="5411343" cy="5411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4"/>
          <p:cNvSpPr txBox="1"/>
          <p:nvPr>
            <p:ph type="title"/>
          </p:nvPr>
        </p:nvSpPr>
        <p:spPr>
          <a:xfrm>
            <a:off x="640080" y="329184"/>
            <a:ext cx="6894576" cy="1783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lang="en-US" sz="5400"/>
              <a:t>Trees 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758952" y="2395728"/>
            <a:ext cx="4243589" cy="18288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43119" y="3005847"/>
            <a:ext cx="4237369" cy="26317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" name="Google Shape;96;p14"/>
          <p:cNvGrpSpPr/>
          <p:nvPr/>
        </p:nvGrpSpPr>
        <p:grpSpPr>
          <a:xfrm>
            <a:off x="640921" y="2706624"/>
            <a:ext cx="6892892" cy="3483864"/>
            <a:chOff x="841" y="0"/>
            <a:chExt cx="6892892" cy="3483864"/>
          </a:xfrm>
        </p:grpSpPr>
        <p:sp>
          <p:nvSpPr>
            <p:cNvPr id="97" name="Google Shape;97;p14"/>
            <p:cNvSpPr/>
            <p:nvPr/>
          </p:nvSpPr>
          <p:spPr>
            <a:xfrm>
              <a:off x="841" y="0"/>
              <a:ext cx="3282329" cy="3483864"/>
            </a:xfrm>
            <a:prstGeom prst="rect">
              <a:avLst/>
            </a:prstGeom>
            <a:solidFill>
              <a:srgbClr val="F6D4CC">
                <a:alpha val="89803"/>
              </a:srgbClr>
            </a:solidFill>
            <a:ln cap="flat" cmpd="sng" w="12700">
              <a:solidFill>
                <a:srgbClr val="F6D4CC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4"/>
            <p:cNvSpPr txBox="1"/>
            <p:nvPr/>
          </p:nvSpPr>
          <p:spPr>
            <a:xfrm>
              <a:off x="841" y="1323868"/>
              <a:ext cx="3282329" cy="20903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255900" spcFirstLastPara="1" rIns="255900" wrap="square" tIns="330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تعريف:</a:t>
              </a:r>
              <a:r>
                <a:rPr b="0" i="0" lang="en-US" sz="2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هياكل الشجرة هي طريقة هرمية لتخزين البيانات، حيث كل عنصر هو عقدة والعقد مرتبطة ببعضها البعض عبر الحواف.</a:t>
              </a:r>
              <a:endPara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4"/>
            <p:cNvSpPr/>
            <p:nvPr/>
          </p:nvSpPr>
          <p:spPr>
            <a:xfrm>
              <a:off x="1119426" y="348386"/>
              <a:ext cx="1045159" cy="1045159"/>
            </a:xfrm>
            <a:prstGeom prst="ellipse">
              <a:avLst/>
            </a:prstGeom>
            <a:gradFill>
              <a:gsLst>
                <a:gs pos="0">
                  <a:srgbClr val="EC8154"/>
                </a:gs>
                <a:gs pos="50000">
                  <a:srgbClr val="F16E27"/>
                </a:gs>
                <a:gs pos="100000">
                  <a:srgbClr val="DF5D18"/>
                </a:gs>
              </a:gsLst>
              <a:lin ang="5400000" scaled="0"/>
            </a:gradFill>
            <a:ln cap="flat" cmpd="sng" w="12700">
              <a:solidFill>
                <a:srgbClr val="E9713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4"/>
            <p:cNvSpPr txBox="1"/>
            <p:nvPr/>
          </p:nvSpPr>
          <p:spPr>
            <a:xfrm>
              <a:off x="1272486" y="501446"/>
              <a:ext cx="739039" cy="7390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81475" spcFirstLastPara="1" rIns="81475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800"/>
                <a:buFont typeface="Arial"/>
                <a:buNone/>
              </a:pPr>
              <a:r>
                <a:rPr b="0" i="0" lang="en-US" sz="4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01" name="Google Shape;101;p14"/>
            <p:cNvSpPr/>
            <p:nvPr/>
          </p:nvSpPr>
          <p:spPr>
            <a:xfrm>
              <a:off x="841" y="3483792"/>
              <a:ext cx="3282329" cy="72"/>
            </a:xfrm>
            <a:prstGeom prst="rect">
              <a:avLst/>
            </a:prstGeom>
            <a:gradFill>
              <a:gsLst>
                <a:gs pos="0">
                  <a:srgbClr val="497D4C"/>
                </a:gs>
                <a:gs pos="50000">
                  <a:srgbClr val="116F1D"/>
                </a:gs>
                <a:gs pos="100000">
                  <a:srgbClr val="0B6417"/>
                </a:gs>
              </a:gsLst>
              <a:lin ang="5400000" scaled="0"/>
            </a:gradFill>
            <a:ln cap="flat" cmpd="sng" w="12700">
              <a:solidFill>
                <a:srgbClr val="176B22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4"/>
            <p:cNvSpPr/>
            <p:nvPr/>
          </p:nvSpPr>
          <p:spPr>
            <a:xfrm>
              <a:off x="3611404" y="0"/>
              <a:ext cx="3282329" cy="3483864"/>
            </a:xfrm>
            <a:prstGeom prst="rect">
              <a:avLst/>
            </a:prstGeom>
            <a:solidFill>
              <a:srgbClr val="CBD3CB">
                <a:alpha val="89803"/>
              </a:srgbClr>
            </a:solidFill>
            <a:ln cap="flat" cmpd="sng" w="12700">
              <a:solidFill>
                <a:srgbClr val="CBD3CB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4"/>
            <p:cNvSpPr txBox="1"/>
            <p:nvPr/>
          </p:nvSpPr>
          <p:spPr>
            <a:xfrm>
              <a:off x="3611404" y="1323868"/>
              <a:ext cx="3282329" cy="20903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255900" spcFirstLastPara="1" rIns="255900" wrap="square" tIns="330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الأهمية:</a:t>
              </a:r>
              <a:r>
                <a:rPr b="0" i="0" lang="en-US" sz="2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تُستخدم في تطبيقات متعددة مثل قواعد البيانات، نظم الملفات، وتوجيه الشبكات.</a:t>
              </a:r>
              <a:endPara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4"/>
            <p:cNvSpPr/>
            <p:nvPr/>
          </p:nvSpPr>
          <p:spPr>
            <a:xfrm>
              <a:off x="4729989" y="348386"/>
              <a:ext cx="1045159" cy="1045159"/>
            </a:xfrm>
            <a:prstGeom prst="ellipse">
              <a:avLst/>
            </a:prstGeom>
            <a:gradFill>
              <a:gsLst>
                <a:gs pos="0">
                  <a:srgbClr val="47A9DE"/>
                </a:gs>
                <a:gs pos="50000">
                  <a:srgbClr val="00A2DF"/>
                </a:gs>
                <a:gs pos="100000">
                  <a:srgbClr val="0093CC"/>
                </a:gs>
              </a:gsLst>
              <a:lin ang="5400000" scaled="0"/>
            </a:gradFill>
            <a:ln cap="flat" cmpd="sng" w="12700">
              <a:solidFill>
                <a:srgbClr val="0C9ED5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4"/>
            <p:cNvSpPr txBox="1"/>
            <p:nvPr/>
          </p:nvSpPr>
          <p:spPr>
            <a:xfrm>
              <a:off x="4883049" y="501446"/>
              <a:ext cx="739039" cy="7390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81475" spcFirstLastPara="1" rIns="81475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800"/>
                <a:buFont typeface="Arial"/>
                <a:buNone/>
              </a:pPr>
              <a:r>
                <a:rPr b="0" i="0" lang="en-US" sz="4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3611404" y="3483792"/>
              <a:ext cx="3282329" cy="72"/>
            </a:xfrm>
            <a:prstGeom prst="rect">
              <a:avLst/>
            </a:prstGeom>
            <a:gradFill>
              <a:gsLst>
                <a:gs pos="0">
                  <a:srgbClr val="AB4E9D"/>
                </a:gs>
                <a:gs pos="50000">
                  <a:srgbClr val="A62094"/>
                </a:gs>
                <a:gs pos="100000">
                  <a:srgbClr val="961886"/>
                </a:gs>
              </a:gsLst>
              <a:lin ang="5400000" scaled="0"/>
            </a:gradFill>
            <a:ln cap="flat" cmpd="sng" w="12700">
              <a:solidFill>
                <a:srgbClr val="A0289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/>
          <p:nvPr/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646745" y="640080"/>
            <a:ext cx="10920415" cy="5577818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C8CACA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t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968024" y="960109"/>
            <a:ext cx="10277856" cy="493776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5"/>
          <p:cNvSpPr txBox="1"/>
          <p:nvPr>
            <p:ph type="title"/>
          </p:nvPr>
        </p:nvSpPr>
        <p:spPr>
          <a:xfrm>
            <a:off x="1452656" y="1444741"/>
            <a:ext cx="9357865" cy="104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Tree Terminology </a:t>
            </a:r>
            <a:r>
              <a:rPr lang="en-US" sz="1600"/>
              <a:t>مصطلحات الشجرة</a:t>
            </a:r>
            <a:endParaRPr sz="4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5" name="Google Shape;115;p15"/>
          <p:cNvSpPr txBox="1"/>
          <p:nvPr>
            <p:ph idx="1" type="body"/>
          </p:nvPr>
        </p:nvSpPr>
        <p:spPr>
          <a:xfrm>
            <a:off x="1452656" y="2701427"/>
            <a:ext cx="4483324" cy="2699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 i="0" lang="en-US" sz="1700" u="none" cap="none" strike="noStrike"/>
              <a:t>لعقدة:</a:t>
            </a:r>
            <a:r>
              <a:rPr b="0" i="0" lang="en-US" sz="1700" u="none" cap="none" strike="noStrike"/>
              <a:t> وحدة أساسية تحتوي على البيانات.</a:t>
            </a:r>
            <a:endParaRPr/>
          </a:p>
          <a:p>
            <a:pPr indent="0" lvl="0" marL="0" marR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 i="0" lang="en-US" sz="1700" u="none" cap="none" strike="noStrike"/>
              <a:t>الجذر:</a:t>
            </a:r>
            <a:r>
              <a:rPr b="0" i="0" lang="en-US" sz="1700" u="none" cap="none" strike="noStrike"/>
              <a:t> العقدة العليا بدون والد.</a:t>
            </a:r>
            <a:endParaRPr/>
          </a:p>
          <a:p>
            <a:pPr indent="0" lvl="0" marL="0" marR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 i="0" lang="en-US" sz="1700" u="none" cap="none" strike="noStrike"/>
              <a:t>الطفل:</a:t>
            </a:r>
            <a:r>
              <a:rPr b="0" i="0" lang="en-US" sz="1700" u="none" cap="none" strike="noStrike"/>
              <a:t> عقدة متصلة مباشرة بعقدة أخرى.</a:t>
            </a:r>
            <a:endParaRPr/>
          </a:p>
          <a:p>
            <a:pPr indent="0" lvl="0" marL="0" marR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 i="0" lang="en-US" sz="1700" u="none" cap="none" strike="noStrike"/>
              <a:t>الوالد:</a:t>
            </a:r>
            <a:r>
              <a:rPr b="0" i="0" lang="en-US" sz="1700" u="none" cap="none" strike="noStrike"/>
              <a:t> عقدة لديها أطفال.</a:t>
            </a:r>
            <a:endParaRPr/>
          </a:p>
          <a:p>
            <a:pPr indent="0" lvl="0" marL="0" marR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 i="0" lang="en-US" sz="1700" u="none" cap="none" strike="noStrike"/>
              <a:t>الورقة:</a:t>
            </a:r>
            <a:r>
              <a:rPr b="0" i="0" lang="en-US" sz="1700" u="none" cap="none" strike="noStrike"/>
              <a:t> عقدة بدون أطفال.</a:t>
            </a:r>
            <a:endParaRPr/>
          </a:p>
          <a:p>
            <a:pPr indent="0" lvl="0" marL="0" marR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 i="0" lang="en-US" sz="1700" u="none" cap="none" strike="noStrike"/>
              <a:t>الشجرة الفرعية:</a:t>
            </a:r>
            <a:r>
              <a:rPr b="0" i="0" lang="en-US" sz="1700" u="none" cap="none" strike="noStrike"/>
              <a:t> شجرة داخل شجرة أخرى.</a:t>
            </a:r>
            <a:endParaRPr/>
          </a:p>
          <a:p>
            <a:pPr indent="0" lvl="0" marL="0" marR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 i="0" lang="en-US" sz="1700" u="none" cap="none" strike="noStrike"/>
              <a:t>العمق:</a:t>
            </a:r>
            <a:r>
              <a:rPr b="0" i="0" lang="en-US" sz="1700" u="none" cap="none" strike="noStrike"/>
              <a:t> المسافة من الجذر إلى العقدة.</a:t>
            </a:r>
            <a:endParaRPr/>
          </a:p>
          <a:p>
            <a:pPr indent="0" lvl="0" marL="0" marR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 i="0" lang="en-US" sz="1700" u="none" cap="none" strike="noStrike"/>
              <a:t>الارتفاع:</a:t>
            </a:r>
            <a:r>
              <a:rPr b="0" i="0" lang="en-US" sz="1700" u="none" cap="none" strike="noStrike"/>
              <a:t> المسافة من العقدة إلى أعمق ورقة.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256020" y="2701427"/>
            <a:ext cx="4554501" cy="2699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Node: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 element containing data.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Root: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top node without a parent.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Child: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node directly under another node.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Parent: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node with child nodes.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Leaf: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node without children.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Subtree: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tree within another tree.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Depth: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Distance from the root to the node.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Height: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Distance from the node to the deepest leaf.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/>
          <p:nvPr/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6"/>
          <p:cNvSpPr txBox="1"/>
          <p:nvPr>
            <p:ph type="title"/>
          </p:nvPr>
        </p:nvSpPr>
        <p:spPr>
          <a:xfrm>
            <a:off x="556532" y="643467"/>
            <a:ext cx="11210925" cy="744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</a:pPr>
            <a:r>
              <a:rPr lang="en-US" sz="3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Tree terminology</a:t>
            </a:r>
            <a:endParaRPr/>
          </a:p>
        </p:txBody>
      </p:sp>
      <p:pic>
        <p:nvPicPr>
          <p:cNvPr id="123" name="Google Shape;123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8271" y="1675227"/>
            <a:ext cx="7675457" cy="4394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7"/>
          <p:cNvSpPr/>
          <p:nvPr/>
        </p:nvSpPr>
        <p:spPr>
          <a:xfrm flipH="1" rot="10800000">
            <a:off x="0" y="0"/>
            <a:ext cx="12192000" cy="2371134"/>
          </a:xfrm>
          <a:custGeom>
            <a:rect b="b" l="l" r="r" t="t"/>
            <a:pathLst>
              <a:path extrusionOk="0" h="2515690" w="12192000">
                <a:moveTo>
                  <a:pt x="0" y="0"/>
                </a:moveTo>
                <a:lnTo>
                  <a:pt x="170442" y="96074"/>
                </a:lnTo>
                <a:cubicBezTo>
                  <a:pt x="323315" y="179510"/>
                  <a:pt x="418777" y="223899"/>
                  <a:pt x="424739" y="224865"/>
                </a:cubicBezTo>
                <a:cubicBezTo>
                  <a:pt x="573781" y="248496"/>
                  <a:pt x="654649" y="314572"/>
                  <a:pt x="748273" y="373939"/>
                </a:cubicBezTo>
                <a:cubicBezTo>
                  <a:pt x="830321" y="425631"/>
                  <a:pt x="917271" y="480784"/>
                  <a:pt x="1037058" y="499994"/>
                </a:cubicBezTo>
                <a:cubicBezTo>
                  <a:pt x="1195925" y="525362"/>
                  <a:pt x="1048105" y="445478"/>
                  <a:pt x="1101312" y="428540"/>
                </a:cubicBezTo>
                <a:cubicBezTo>
                  <a:pt x="1188473" y="458169"/>
                  <a:pt x="1274625" y="505369"/>
                  <a:pt x="1367071" y="516118"/>
                </a:cubicBezTo>
                <a:cubicBezTo>
                  <a:pt x="1701323" y="554463"/>
                  <a:pt x="1964451" y="648887"/>
                  <a:pt x="2189943" y="794533"/>
                </a:cubicBezTo>
                <a:cubicBezTo>
                  <a:pt x="2255082" y="836300"/>
                  <a:pt x="2357481" y="862342"/>
                  <a:pt x="2390329" y="920897"/>
                </a:cubicBezTo>
                <a:cubicBezTo>
                  <a:pt x="2406050" y="949359"/>
                  <a:pt x="2430126" y="969285"/>
                  <a:pt x="2459570" y="983740"/>
                </a:cubicBezTo>
                <a:lnTo>
                  <a:pt x="2503252" y="1000151"/>
                </a:lnTo>
                <a:lnTo>
                  <a:pt x="2503252" y="1008273"/>
                </a:lnTo>
                <a:lnTo>
                  <a:pt x="2511191" y="1009499"/>
                </a:lnTo>
                <a:cubicBezTo>
                  <a:pt x="2529847" y="1011974"/>
                  <a:pt x="2562849" y="1015701"/>
                  <a:pt x="2565029" y="1015977"/>
                </a:cubicBezTo>
                <a:cubicBezTo>
                  <a:pt x="2610845" y="1021778"/>
                  <a:pt x="2601577" y="1020837"/>
                  <a:pt x="2593745" y="1019963"/>
                </a:cubicBezTo>
                <a:lnTo>
                  <a:pt x="2591015" y="1019651"/>
                </a:lnTo>
                <a:lnTo>
                  <a:pt x="2590137" y="1019549"/>
                </a:lnTo>
                <a:cubicBezTo>
                  <a:pt x="2588203" y="1019326"/>
                  <a:pt x="2588125" y="1019321"/>
                  <a:pt x="2589021" y="1019424"/>
                </a:cubicBezTo>
                <a:lnTo>
                  <a:pt x="2591015" y="1019651"/>
                </a:lnTo>
                <a:lnTo>
                  <a:pt x="2602385" y="1020975"/>
                </a:lnTo>
                <a:lnTo>
                  <a:pt x="2614445" y="1022389"/>
                </a:lnTo>
                <a:lnTo>
                  <a:pt x="2614445" y="1020966"/>
                </a:lnTo>
                <a:lnTo>
                  <a:pt x="2676661" y="1029355"/>
                </a:lnTo>
                <a:cubicBezTo>
                  <a:pt x="2715592" y="1034194"/>
                  <a:pt x="2753901" y="1039695"/>
                  <a:pt x="2788597" y="1048926"/>
                </a:cubicBezTo>
                <a:lnTo>
                  <a:pt x="2812742" y="1057667"/>
                </a:lnTo>
                <a:lnTo>
                  <a:pt x="2970201" y="949091"/>
                </a:lnTo>
                <a:cubicBezTo>
                  <a:pt x="3052785" y="982961"/>
                  <a:pt x="2996105" y="1020057"/>
                  <a:pt x="3030610" y="1049340"/>
                </a:cubicBezTo>
                <a:cubicBezTo>
                  <a:pt x="3039005" y="1048442"/>
                  <a:pt x="3049621" y="1048500"/>
                  <a:pt x="3058913" y="1048085"/>
                </a:cubicBezTo>
                <a:lnTo>
                  <a:pt x="3072697" y="1045316"/>
                </a:lnTo>
                <a:lnTo>
                  <a:pt x="3083305" y="1040550"/>
                </a:lnTo>
                <a:lnTo>
                  <a:pt x="3125603" y="1004583"/>
                </a:lnTo>
                <a:cubicBezTo>
                  <a:pt x="3221669" y="925596"/>
                  <a:pt x="3242489" y="937564"/>
                  <a:pt x="3385106" y="1042233"/>
                </a:cubicBezTo>
                <a:cubicBezTo>
                  <a:pt x="3399403" y="1052670"/>
                  <a:pt x="3412529" y="1060209"/>
                  <a:pt x="3424945" y="1065268"/>
                </a:cubicBezTo>
                <a:lnTo>
                  <a:pt x="3436948" y="1068018"/>
                </a:lnTo>
                <a:lnTo>
                  <a:pt x="3466714" y="1063419"/>
                </a:lnTo>
                <a:lnTo>
                  <a:pt x="3550909" y="1044511"/>
                </a:lnTo>
                <a:lnTo>
                  <a:pt x="3555900" y="1041996"/>
                </a:lnTo>
                <a:cubicBezTo>
                  <a:pt x="3573827" y="1033454"/>
                  <a:pt x="3594382" y="1025941"/>
                  <a:pt x="3625978" y="1023459"/>
                </a:cubicBezTo>
                <a:lnTo>
                  <a:pt x="3632465" y="1023522"/>
                </a:lnTo>
                <a:lnTo>
                  <a:pt x="3649063" y="1018726"/>
                </a:lnTo>
                <a:cubicBezTo>
                  <a:pt x="3741849" y="989371"/>
                  <a:pt x="3810578" y="953657"/>
                  <a:pt x="3805954" y="917517"/>
                </a:cubicBezTo>
                <a:cubicBezTo>
                  <a:pt x="4031729" y="953901"/>
                  <a:pt x="4031729" y="953901"/>
                  <a:pt x="4020506" y="816231"/>
                </a:cubicBezTo>
                <a:cubicBezTo>
                  <a:pt x="4171643" y="865324"/>
                  <a:pt x="4206308" y="864422"/>
                  <a:pt x="4233682" y="799511"/>
                </a:cubicBezTo>
                <a:cubicBezTo>
                  <a:pt x="4260226" y="737017"/>
                  <a:pt x="4254728" y="668575"/>
                  <a:pt x="4306552" y="610207"/>
                </a:cubicBezTo>
                <a:cubicBezTo>
                  <a:pt x="4495313" y="657923"/>
                  <a:pt x="4699922" y="667347"/>
                  <a:pt x="4816604" y="773163"/>
                </a:cubicBezTo>
                <a:cubicBezTo>
                  <a:pt x="4834734" y="789836"/>
                  <a:pt x="4890507" y="799946"/>
                  <a:pt x="4916502" y="788104"/>
                </a:cubicBezTo>
                <a:cubicBezTo>
                  <a:pt x="5013526" y="746101"/>
                  <a:pt x="5238129" y="796871"/>
                  <a:pt x="5224415" y="674418"/>
                </a:cubicBezTo>
                <a:cubicBezTo>
                  <a:pt x="5223051" y="659300"/>
                  <a:pt x="5240524" y="644890"/>
                  <a:pt x="5274077" y="655978"/>
                </a:cubicBezTo>
                <a:cubicBezTo>
                  <a:pt x="5388582" y="694066"/>
                  <a:pt x="5367022" y="644784"/>
                  <a:pt x="5371217" y="614372"/>
                </a:cubicBezTo>
                <a:cubicBezTo>
                  <a:pt x="5375856" y="577567"/>
                  <a:pt x="5319010" y="537578"/>
                  <a:pt x="5364523" y="502501"/>
                </a:cubicBezTo>
                <a:cubicBezTo>
                  <a:pt x="5425408" y="508891"/>
                  <a:pt x="5433299" y="538191"/>
                  <a:pt x="5457871" y="558285"/>
                </a:cubicBezTo>
                <a:cubicBezTo>
                  <a:pt x="5530352" y="617005"/>
                  <a:pt x="5609566" y="664386"/>
                  <a:pt x="5750580" y="663503"/>
                </a:cubicBezTo>
                <a:cubicBezTo>
                  <a:pt x="5864519" y="662926"/>
                  <a:pt x="5966527" y="666650"/>
                  <a:pt x="5976618" y="582652"/>
                </a:cubicBezTo>
                <a:cubicBezTo>
                  <a:pt x="5978145" y="569455"/>
                  <a:pt x="5990792" y="562346"/>
                  <a:pt x="6009346" y="559470"/>
                </a:cubicBezTo>
                <a:cubicBezTo>
                  <a:pt x="6030639" y="568485"/>
                  <a:pt x="6052592" y="577083"/>
                  <a:pt x="6069735" y="587803"/>
                </a:cubicBezTo>
                <a:cubicBezTo>
                  <a:pt x="6126182" y="623812"/>
                  <a:pt x="6196945" y="634730"/>
                  <a:pt x="6270319" y="643982"/>
                </a:cubicBezTo>
                <a:cubicBezTo>
                  <a:pt x="6317101" y="649940"/>
                  <a:pt x="6363466" y="657107"/>
                  <a:pt x="6406781" y="672327"/>
                </a:cubicBezTo>
                <a:cubicBezTo>
                  <a:pt x="6433586" y="681598"/>
                  <a:pt x="6454928" y="693402"/>
                  <a:pt x="6469508" y="708574"/>
                </a:cubicBezTo>
                <a:cubicBezTo>
                  <a:pt x="6482729" y="721786"/>
                  <a:pt x="6496225" y="725422"/>
                  <a:pt x="6515869" y="715738"/>
                </a:cubicBezTo>
                <a:cubicBezTo>
                  <a:pt x="6572200" y="688353"/>
                  <a:pt x="6639257" y="676241"/>
                  <a:pt x="6725938" y="691128"/>
                </a:cubicBezTo>
                <a:cubicBezTo>
                  <a:pt x="6752109" y="695629"/>
                  <a:pt x="6772625" y="691505"/>
                  <a:pt x="6778240" y="678998"/>
                </a:cubicBezTo>
                <a:cubicBezTo>
                  <a:pt x="6784286" y="665981"/>
                  <a:pt x="6794269" y="655280"/>
                  <a:pt x="6806944" y="646178"/>
                </a:cubicBezTo>
                <a:lnTo>
                  <a:pt x="6830632" y="633915"/>
                </a:lnTo>
                <a:lnTo>
                  <a:pt x="6858072" y="646178"/>
                </a:lnTo>
                <a:cubicBezTo>
                  <a:pt x="6872754" y="655280"/>
                  <a:pt x="6884317" y="665981"/>
                  <a:pt x="6891322" y="678998"/>
                </a:cubicBezTo>
                <a:cubicBezTo>
                  <a:pt x="6897826" y="691505"/>
                  <a:pt x="6921592" y="695629"/>
                  <a:pt x="6951905" y="691128"/>
                </a:cubicBezTo>
                <a:cubicBezTo>
                  <a:pt x="7052317" y="676241"/>
                  <a:pt x="7129994" y="688353"/>
                  <a:pt x="7195246" y="715738"/>
                </a:cubicBezTo>
                <a:cubicBezTo>
                  <a:pt x="7217999" y="725422"/>
                  <a:pt x="7233634" y="721786"/>
                  <a:pt x="7248949" y="708574"/>
                </a:cubicBezTo>
                <a:cubicBezTo>
                  <a:pt x="7265838" y="693402"/>
                  <a:pt x="7290560" y="681598"/>
                  <a:pt x="7321609" y="672327"/>
                </a:cubicBezTo>
                <a:cubicBezTo>
                  <a:pt x="7371785" y="657107"/>
                  <a:pt x="7425493" y="649940"/>
                  <a:pt x="7479684" y="643982"/>
                </a:cubicBezTo>
                <a:cubicBezTo>
                  <a:pt x="7564679" y="634730"/>
                  <a:pt x="7646649" y="623812"/>
                  <a:pt x="7712035" y="587803"/>
                </a:cubicBezTo>
                <a:cubicBezTo>
                  <a:pt x="7731892" y="577083"/>
                  <a:pt x="7757322" y="568485"/>
                  <a:pt x="7781987" y="559470"/>
                </a:cubicBezTo>
                <a:cubicBezTo>
                  <a:pt x="7803481" y="562346"/>
                  <a:pt x="7818130" y="569455"/>
                  <a:pt x="7819900" y="582652"/>
                </a:cubicBezTo>
                <a:cubicBezTo>
                  <a:pt x="7831588" y="666650"/>
                  <a:pt x="7949751" y="662926"/>
                  <a:pt x="8081736" y="663503"/>
                </a:cubicBezTo>
                <a:cubicBezTo>
                  <a:pt x="8245081" y="664386"/>
                  <a:pt x="8336842" y="617005"/>
                  <a:pt x="8420801" y="558285"/>
                </a:cubicBezTo>
                <a:cubicBezTo>
                  <a:pt x="8449265" y="538191"/>
                  <a:pt x="8458404" y="508890"/>
                  <a:pt x="8528933" y="502501"/>
                </a:cubicBezTo>
                <a:cubicBezTo>
                  <a:pt x="8581654" y="537578"/>
                  <a:pt x="8515805" y="577567"/>
                  <a:pt x="8521178" y="614372"/>
                </a:cubicBezTo>
                <a:cubicBezTo>
                  <a:pt x="8526038" y="644784"/>
                  <a:pt x="8501063" y="694066"/>
                  <a:pt x="8633702" y="655978"/>
                </a:cubicBezTo>
                <a:cubicBezTo>
                  <a:pt x="8672570" y="644890"/>
                  <a:pt x="8692811" y="659300"/>
                  <a:pt x="8691231" y="674418"/>
                </a:cubicBezTo>
                <a:cubicBezTo>
                  <a:pt x="8675345" y="796871"/>
                  <a:pt x="8935518" y="746101"/>
                  <a:pt x="9047908" y="788104"/>
                </a:cubicBezTo>
                <a:cubicBezTo>
                  <a:pt x="9078021" y="799946"/>
                  <a:pt x="9142627" y="789836"/>
                  <a:pt x="9163628" y="773163"/>
                </a:cubicBezTo>
                <a:cubicBezTo>
                  <a:pt x="9298789" y="667347"/>
                  <a:pt x="9535801" y="657923"/>
                  <a:pt x="9754459" y="610207"/>
                </a:cubicBezTo>
                <a:cubicBezTo>
                  <a:pt x="9814490" y="668575"/>
                  <a:pt x="9808123" y="737017"/>
                  <a:pt x="9838868" y="799511"/>
                </a:cubicBezTo>
                <a:cubicBezTo>
                  <a:pt x="9870579" y="864422"/>
                  <a:pt x="9910733" y="865324"/>
                  <a:pt x="10085808" y="816231"/>
                </a:cubicBezTo>
                <a:cubicBezTo>
                  <a:pt x="10072804" y="953901"/>
                  <a:pt x="10072804" y="953901"/>
                  <a:pt x="10334338" y="917517"/>
                </a:cubicBezTo>
                <a:cubicBezTo>
                  <a:pt x="10328982" y="953657"/>
                  <a:pt x="10408594" y="989371"/>
                  <a:pt x="10516076" y="1018726"/>
                </a:cubicBezTo>
                <a:lnTo>
                  <a:pt x="10535302" y="1023522"/>
                </a:lnTo>
                <a:lnTo>
                  <a:pt x="10542819" y="1023458"/>
                </a:lnTo>
                <a:cubicBezTo>
                  <a:pt x="10579419" y="1025941"/>
                  <a:pt x="10603227" y="1033454"/>
                  <a:pt x="10623994" y="1041996"/>
                </a:cubicBezTo>
                <a:lnTo>
                  <a:pt x="10629774" y="1044511"/>
                </a:lnTo>
                <a:lnTo>
                  <a:pt x="10727305" y="1063419"/>
                </a:lnTo>
                <a:lnTo>
                  <a:pt x="10761785" y="1068017"/>
                </a:lnTo>
                <a:lnTo>
                  <a:pt x="10775688" y="1065268"/>
                </a:lnTo>
                <a:cubicBezTo>
                  <a:pt x="10790070" y="1060209"/>
                  <a:pt x="10805275" y="1052670"/>
                  <a:pt x="10821837" y="1042232"/>
                </a:cubicBezTo>
                <a:cubicBezTo>
                  <a:pt x="10987041" y="937564"/>
                  <a:pt x="11011156" y="925596"/>
                  <a:pt x="11122438" y="1004583"/>
                </a:cubicBezTo>
                <a:lnTo>
                  <a:pt x="11171433" y="1040550"/>
                </a:lnTo>
                <a:lnTo>
                  <a:pt x="11183724" y="1045316"/>
                </a:lnTo>
                <a:lnTo>
                  <a:pt x="11199690" y="1048085"/>
                </a:lnTo>
                <a:cubicBezTo>
                  <a:pt x="11210452" y="1048499"/>
                  <a:pt x="11222752" y="1048442"/>
                  <a:pt x="11232475" y="1049340"/>
                </a:cubicBezTo>
                <a:cubicBezTo>
                  <a:pt x="11272445" y="1020057"/>
                  <a:pt x="11206789" y="982961"/>
                  <a:pt x="11302451" y="949091"/>
                </a:cubicBezTo>
                <a:lnTo>
                  <a:pt x="11484849" y="1057667"/>
                </a:lnTo>
                <a:lnTo>
                  <a:pt x="11512818" y="1048926"/>
                </a:lnTo>
                <a:cubicBezTo>
                  <a:pt x="11553007" y="1039695"/>
                  <a:pt x="11597385" y="1034194"/>
                  <a:pt x="11642481" y="1029355"/>
                </a:cubicBezTo>
                <a:lnTo>
                  <a:pt x="11714551" y="1020966"/>
                </a:lnTo>
                <a:lnTo>
                  <a:pt x="11714551" y="1022389"/>
                </a:lnTo>
                <a:lnTo>
                  <a:pt x="11728519" y="1020975"/>
                </a:lnTo>
                <a:lnTo>
                  <a:pt x="11741691" y="1019651"/>
                </a:lnTo>
                <a:lnTo>
                  <a:pt x="11743999" y="1019424"/>
                </a:lnTo>
                <a:cubicBezTo>
                  <a:pt x="11745037" y="1019320"/>
                  <a:pt x="11744948" y="1019326"/>
                  <a:pt x="11742709" y="1019549"/>
                </a:cubicBezTo>
                <a:lnTo>
                  <a:pt x="11741691" y="1019651"/>
                </a:lnTo>
                <a:lnTo>
                  <a:pt x="11738529" y="1019963"/>
                </a:lnTo>
                <a:cubicBezTo>
                  <a:pt x="11729455" y="1020837"/>
                  <a:pt x="11718720" y="1021778"/>
                  <a:pt x="11771791" y="1015977"/>
                </a:cubicBezTo>
                <a:cubicBezTo>
                  <a:pt x="11774317" y="1015701"/>
                  <a:pt x="11812546" y="1011974"/>
                  <a:pt x="11834157" y="1009499"/>
                </a:cubicBezTo>
                <a:lnTo>
                  <a:pt x="11843354" y="1008273"/>
                </a:lnTo>
                <a:lnTo>
                  <a:pt x="11843354" y="1000151"/>
                </a:lnTo>
                <a:lnTo>
                  <a:pt x="11893955" y="983740"/>
                </a:lnTo>
                <a:cubicBezTo>
                  <a:pt x="11928061" y="969285"/>
                  <a:pt x="11955951" y="949359"/>
                  <a:pt x="11974160" y="920897"/>
                </a:cubicBezTo>
                <a:cubicBezTo>
                  <a:pt x="12002698" y="876981"/>
                  <a:pt x="12076554" y="851353"/>
                  <a:pt x="12143531" y="823664"/>
                </a:cubicBezTo>
                <a:lnTo>
                  <a:pt x="12192000" y="801163"/>
                </a:lnTo>
                <a:lnTo>
                  <a:pt x="12192000" y="2515690"/>
                </a:lnTo>
                <a:lnTo>
                  <a:pt x="0" y="2515690"/>
                </a:lnTo>
                <a:close/>
              </a:path>
            </a:pathLst>
          </a:custGeom>
          <a:solidFill>
            <a:schemeClr val="l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 txBox="1"/>
          <p:nvPr>
            <p:ph type="title"/>
          </p:nvPr>
        </p:nvSpPr>
        <p:spPr>
          <a:xfrm>
            <a:off x="838200" y="365125"/>
            <a:ext cx="10515600" cy="930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Edge </a:t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7544987" y="1712571"/>
            <a:ext cx="4081188" cy="34328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تحدد الحواف العلاقات بين العقد في الشجرة.</a:t>
            </a:r>
            <a:endParaRPr/>
          </a:p>
          <a:p>
            <a:pPr indent="0" lvl="0" marL="0" marR="0" rtl="1" algn="r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19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خصائص:</a:t>
            </a:r>
            <a:endParaRPr b="0" i="0" sz="11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5565" lvl="0" marL="0" marR="0" rtl="1" algn="r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90"/>
              <a:buFont typeface="Arial"/>
              <a:buChar char="•"/>
            </a:pPr>
            <a:r>
              <a:rPr b="0" i="0" lang="en-US" sz="119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كل حافة تربط بين عقدتين.</a:t>
            </a:r>
            <a:endParaRPr/>
          </a:p>
          <a:p>
            <a:pPr indent="-75565" lvl="0" marL="0" marR="0" rtl="1" algn="r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90"/>
              <a:buFont typeface="Arial"/>
              <a:buChar char="•"/>
            </a:pPr>
            <a:r>
              <a:rPr b="0" i="0" lang="en-US" sz="119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في الشجرة، يكون كل عقدة (باستثناء الجذر) مرتبطة بوالد واحد على الأقل.</a:t>
            </a:r>
            <a:endParaRPr/>
          </a:p>
          <a:p>
            <a:pPr indent="-75565" lvl="0" marL="0" marR="0" rtl="1" algn="r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90"/>
              <a:buFont typeface="Arial"/>
              <a:buChar char="•"/>
            </a:pPr>
            <a:r>
              <a:rPr b="0" i="0" lang="en-US" sz="119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يمكن أن تحتوي الحواف على وزن (weight) أو قيمة إضافية تستخدم في العمليات مثل التصفح أو البحث.</a:t>
            </a:r>
            <a:endParaRPr/>
          </a:p>
          <a:p>
            <a:pPr indent="0" lvl="0" marL="0" marR="0" rtl="1" algn="r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19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أنواع الحواف:</a:t>
            </a:r>
            <a:endParaRPr b="0" i="0" sz="11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5565" lvl="0" marL="0" marR="0" rtl="1" algn="r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90"/>
              <a:buFont typeface="Arial"/>
              <a:buChar char="•"/>
            </a:pPr>
            <a:r>
              <a:rPr b="1" i="0" lang="en-US" sz="119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حافة موجهة (Directed Edge):</a:t>
            </a:r>
            <a:r>
              <a:rPr b="0" i="0" lang="en-US" sz="119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تسمح بالتنقل من عقدة إلى عقدة محددة في اتجاه معين.</a:t>
            </a:r>
            <a:endParaRPr/>
          </a:p>
          <a:p>
            <a:pPr indent="-75565" lvl="0" marL="0" marR="0" rtl="1" algn="r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90"/>
              <a:buFont typeface="Arial"/>
              <a:buChar char="•"/>
            </a:pPr>
            <a:r>
              <a:rPr b="1" i="0" lang="en-US" sz="119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حافة غير موجهة (Undirected Edge):</a:t>
            </a:r>
            <a:r>
              <a:rPr b="0" i="0" lang="en-US" sz="119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تسمح بالتنقل بين عقدتين في كلا الاتجاهين بدون تحديد اتجاه معين.</a:t>
            </a:r>
            <a:endParaRPr/>
          </a:p>
          <a:p>
            <a:pPr indent="0" lvl="0" marL="0" marR="0" rtl="1" algn="r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19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الرمزية:</a:t>
            </a:r>
            <a:endParaRPr b="0" i="0" sz="11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5565" lvl="0" marL="0" marR="0" rtl="1" algn="r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90"/>
              <a:buFont typeface="Arial"/>
              <a:buChar char="•"/>
            </a:pPr>
            <a:r>
              <a:rPr b="0" i="0" lang="en-US" sz="119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الحواف في الرسم التخطيطي للشجرة تمثل بخط مستقيم يربط بين العقدتين المرتبطتين به.</a:t>
            </a:r>
            <a:endParaRPr/>
          </a:p>
          <a:p>
            <a:pPr indent="0" lvl="0" marL="0" marR="0" rtl="1" algn="r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19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مثال توضيحي:</a:t>
            </a:r>
            <a:endParaRPr b="0" i="0" sz="11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5565" lvl="0" marL="0" marR="0" rtl="1" algn="r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90"/>
              <a:buFont typeface="Arial"/>
              <a:buChar char="•"/>
            </a:pPr>
            <a:r>
              <a:rPr b="0" i="0" lang="en-US" sz="119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عرض مخطط بسيط لشجرة يتضمن عقد واحد مع حافتين موجهتين وحافة غير موجهة</a:t>
            </a:r>
            <a:endParaRPr/>
          </a:p>
          <a:p>
            <a:pPr indent="0" lvl="0" marL="0" marR="0" rtl="1" algn="r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1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6929" y="274735"/>
            <a:ext cx="2206437" cy="182166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838200" y="1475605"/>
            <a:ext cx="4809256" cy="2282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89154" lvl="0" marL="0" marR="0" rtl="1" algn="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4"/>
              <a:buFont typeface="Arial"/>
              <a:buChar char="•"/>
            </a:pPr>
            <a:r>
              <a:rPr b="0" i="0" lang="en-US" sz="140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الحواف تمثل الروابط بين العقد في هيكل الشجرة.</a:t>
            </a:r>
            <a:endParaRPr/>
          </a:p>
          <a:p>
            <a:pPr indent="-89154" lvl="0" marL="0" marR="0" rtl="1" algn="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4"/>
              <a:buFont typeface="Arial"/>
              <a:buChar char="•"/>
            </a:pPr>
            <a:r>
              <a:rPr b="0" i="0" lang="en-US" sz="140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يمكن أن تكون الحواف موجهة أو غير موجهة وقد تحتوي على وزن.</a:t>
            </a:r>
            <a:endParaRPr/>
          </a:p>
          <a:p>
            <a:pPr indent="-89154" lvl="0" marL="0" marR="0" rtl="1" algn="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4"/>
              <a:buFont typeface="Arial"/>
              <a:buChar char="•"/>
            </a:pPr>
            <a:r>
              <a:rPr b="0" i="0" lang="en-US" sz="140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تُستخدم الحواف في العديد من العمليات مثل التصفح والبحث والربط بين العقد.</a:t>
            </a:r>
            <a:endParaRPr/>
          </a:p>
          <a:p>
            <a:pPr indent="0" lvl="0" marL="0" marR="0" rtl="1" algn="r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التطبيقات:</a:t>
            </a:r>
            <a:endParaRPr/>
          </a:p>
          <a:p>
            <a:pPr indent="-89154" lvl="0" marL="0" marR="0" rtl="1" algn="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4"/>
              <a:buFont typeface="Arial"/>
              <a:buChar char="•"/>
            </a:pPr>
            <a:r>
              <a:rPr b="0" i="0" lang="en-US" sz="140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في الرسم البياني للشبكات، تُمثل الحواف الارتباطات بين العقد.</a:t>
            </a:r>
            <a:endParaRPr/>
          </a:p>
          <a:p>
            <a:pPr indent="-89154" lvl="0" marL="0" marR="0" rtl="1" algn="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4"/>
              <a:buFont typeface="Arial"/>
              <a:buChar char="•"/>
            </a:pPr>
            <a:r>
              <a:rPr b="0" i="0" lang="en-US" sz="140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في البحث عن أقصر مسار في الرسوم البيانية، تُستخدم الحواف لحساب الأوزان والمسافات.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9263" y="4174861"/>
            <a:ext cx="3619814" cy="2282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8"/>
          <p:cNvSpPr txBox="1"/>
          <p:nvPr>
            <p:ph type="title"/>
          </p:nvPr>
        </p:nvSpPr>
        <p:spPr>
          <a:xfrm>
            <a:off x="838200" y="557189"/>
            <a:ext cx="10515600" cy="2057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lay"/>
              <a:buNone/>
            </a:pPr>
            <a:r>
              <a:rPr lang="en-US" sz="5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examples</a:t>
            </a:r>
            <a:endParaRPr/>
          </a:p>
        </p:txBody>
      </p:sp>
      <p:pic>
        <p:nvPicPr>
          <p:cNvPr id="141" name="Google Shape;14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099" y="3475320"/>
            <a:ext cx="3797536" cy="2136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3386" y="3494308"/>
            <a:ext cx="3797536" cy="2098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2673" y="3822790"/>
            <a:ext cx="3797537" cy="204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/>
          <p:nvPr/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9"/>
          <p:cNvSpPr txBox="1"/>
          <p:nvPr>
            <p:ph type="title"/>
          </p:nvPr>
        </p:nvSpPr>
        <p:spPr>
          <a:xfrm>
            <a:off x="556532" y="643467"/>
            <a:ext cx="11210925" cy="744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</a:pPr>
            <a:r>
              <a:rPr lang="en-US" sz="3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tree</a:t>
            </a:r>
            <a:endParaRPr/>
          </a:p>
        </p:txBody>
      </p:sp>
      <p:pic>
        <p:nvPicPr>
          <p:cNvPr id="150" name="Google Shape;150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24291" l="-135" r="135" t="1089"/>
          <a:stretch/>
        </p:blipFill>
        <p:spPr>
          <a:xfrm>
            <a:off x="643467" y="1858355"/>
            <a:ext cx="10905066" cy="4027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0"/>
          <p:cNvSpPr txBox="1"/>
          <p:nvPr>
            <p:ph type="title"/>
          </p:nvPr>
        </p:nvSpPr>
        <p:spPr>
          <a:xfrm>
            <a:off x="429768" y="411480"/>
            <a:ext cx="11131298" cy="1106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en-US" sz="3600"/>
              <a:t>Root node </a:t>
            </a:r>
            <a:endParaRPr/>
          </a:p>
        </p:txBody>
      </p:sp>
      <p:sp>
        <p:nvSpPr>
          <p:cNvPr id="157" name="Google Shape;157;p20"/>
          <p:cNvSpPr/>
          <p:nvPr/>
        </p:nvSpPr>
        <p:spPr>
          <a:xfrm>
            <a:off x="0" y="585216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20"/>
          <p:cNvPicPr preferRelativeResize="0"/>
          <p:nvPr/>
        </p:nvPicPr>
        <p:blipFill rotWithShape="1">
          <a:blip r:embed="rId3">
            <a:alphaModFix/>
          </a:blip>
          <a:srcRect b="1" l="0" r="37584" t="0"/>
          <a:stretch/>
        </p:blipFill>
        <p:spPr>
          <a:xfrm>
            <a:off x="429767" y="1721922"/>
            <a:ext cx="3419856" cy="4520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0"/>
          <p:cNvPicPr preferRelativeResize="0"/>
          <p:nvPr/>
        </p:nvPicPr>
        <p:blipFill rotWithShape="1">
          <a:blip r:embed="rId4">
            <a:alphaModFix/>
          </a:blip>
          <a:srcRect b="-1" l="5379" r="9759" t="0"/>
          <a:stretch/>
        </p:blipFill>
        <p:spPr>
          <a:xfrm>
            <a:off x="4226837" y="1721922"/>
            <a:ext cx="3420596" cy="452056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0"/>
          <p:cNvSpPr/>
          <p:nvPr/>
        </p:nvSpPr>
        <p:spPr>
          <a:xfrm>
            <a:off x="8024648" y="1721922"/>
            <a:ext cx="3609143" cy="452056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1E1E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0"/>
          <p:cNvSpPr txBox="1"/>
          <p:nvPr>
            <p:ph idx="1" type="body"/>
          </p:nvPr>
        </p:nvSpPr>
        <p:spPr>
          <a:xfrm>
            <a:off x="8309348" y="2020824"/>
            <a:ext cx="2956060" cy="3959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لجذر هو العقدة العلوية في الشجرة.</a:t>
            </a:r>
            <a:endParaRPr/>
          </a:p>
          <a:p>
            <a:pPr indent="-22860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هو العقدة الوحيدة في الشجرة التي لا تمتلك أي والد.</a:t>
            </a:r>
            <a:endParaRPr/>
          </a:p>
          <a:p>
            <a:pPr indent="-22860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جميع العقد الأخرى في الشجرة هي أحفاد للعقدة الجذرية.</a:t>
            </a:r>
            <a:endParaRPr/>
          </a:p>
          <a:p>
            <a:pPr indent="-22860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b="1" lang="en-US" sz="1100"/>
              <a:t>الأهمية:</a:t>
            </a:r>
            <a:endParaRPr sz="1100"/>
          </a:p>
          <a:p>
            <a:pPr indent="-22860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الجذر يعمل كنقطة البداية في عمليات التصفح.</a:t>
            </a:r>
            <a:endParaRPr/>
          </a:p>
          <a:p>
            <a:pPr indent="-22860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يمثل الهيكل بأكمله ويربط جميع العقد الأخرى.</a:t>
            </a:r>
            <a:endParaRPr/>
          </a:p>
          <a:p>
            <a:pPr indent="-22860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العمليات مثل الإدراج والحذف والبحث غالبًا ما تبدأ من الجذر.</a:t>
            </a:r>
            <a:endParaRPr/>
          </a:p>
          <a:p>
            <a:pPr indent="-22860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b="1" lang="en-US" sz="1100"/>
              <a:t>الخصائص:</a:t>
            </a:r>
            <a:endParaRPr sz="1100"/>
          </a:p>
          <a:p>
            <a:pPr indent="-22860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1" lang="en-US" sz="1100"/>
              <a:t>التفرد:</a:t>
            </a:r>
            <a:r>
              <a:rPr lang="en-US" sz="1100"/>
              <a:t> تحتوي الشجرة على جذر واحد فقط.</a:t>
            </a:r>
            <a:endParaRPr/>
          </a:p>
          <a:p>
            <a:pPr indent="-22860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1" lang="en-US" sz="1100"/>
              <a:t>المستوى:</a:t>
            </a:r>
            <a:r>
              <a:rPr lang="en-US" sz="1100"/>
              <a:t> الجذر يقع في المستوى 0.</a:t>
            </a:r>
            <a:endParaRPr/>
          </a:p>
          <a:p>
            <a:pPr indent="-22860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1" lang="en-US" sz="1100"/>
              <a:t>الاتصال:</a:t>
            </a:r>
            <a:r>
              <a:rPr lang="en-US" sz="1100"/>
              <a:t> متصل مباشرة أو غير مباشرة بكل عقدة أخرى في الشجرة.</a:t>
            </a:r>
            <a:endParaRPr/>
          </a:p>
          <a:p>
            <a:pPr indent="-15875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467" y="661839"/>
            <a:ext cx="10905066" cy="5534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