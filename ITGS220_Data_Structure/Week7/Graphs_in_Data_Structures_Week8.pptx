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68580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GoogleSlidesCustomDataVersion2">
      <go:slidesCustomData xmlns:go="http://customooxmlschemas.google.com/" r:id="rId18" roundtripDataSignature="AMtx7mhWO0r3mvMRj5wzgOOiSkUb0Pgk1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3" name="Google Shape;12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4" name="Google Shape;20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0" name="Google Shape;20;p15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21" name="Google Shape;21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16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7" name="Google Shape;27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8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0" name="Google Shape;40;p18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8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2" name="Google Shape;42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C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Relationship Id="rId4" Type="http://schemas.openxmlformats.org/officeDocument/2006/relationships/image" Target="../media/image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0.png"/><Relationship Id="rId4" Type="http://schemas.openxmlformats.org/officeDocument/2006/relationships/image" Target="../media/image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10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 txBox="1"/>
          <p:nvPr>
            <p:ph type="title"/>
          </p:nvPr>
        </p:nvSpPr>
        <p:spPr>
          <a:xfrm>
            <a:off x="596646" y="386930"/>
            <a:ext cx="7606349" cy="13005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br>
              <a:rPr lang="en-CA" sz="4200"/>
            </a:br>
            <a:r>
              <a:rPr lang="en-CA" sz="4200"/>
              <a:t>Graphs </a:t>
            </a:r>
            <a:br>
              <a:rPr lang="en-CA" sz="4200"/>
            </a:br>
            <a:r>
              <a:rPr lang="en-CA" sz="4200"/>
              <a:t>الرسوم البيانية في هياكل البيانات</a:t>
            </a:r>
            <a:endParaRPr/>
          </a:p>
        </p:txBody>
      </p:sp>
      <p:sp>
        <p:nvSpPr>
          <p:cNvPr id="86" name="Google Shape;86;p1"/>
          <p:cNvSpPr/>
          <p:nvPr/>
        </p:nvSpPr>
        <p:spPr>
          <a:xfrm rot="10800000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/>
          <p:nvPr/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8" name="Google Shape;88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6471" y="3561012"/>
            <a:ext cx="3862708" cy="1641650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"/>
          <p:cNvSpPr txBox="1"/>
          <p:nvPr>
            <p:ph idx="1" type="body"/>
          </p:nvPr>
        </p:nvSpPr>
        <p:spPr>
          <a:xfrm>
            <a:off x="4804821" y="2599509"/>
            <a:ext cx="3398174" cy="36394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342900" lvl="0" marL="342900" rt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❑"/>
            </a:pPr>
            <a:r>
              <a:rPr lang="en-CA" sz="1700"/>
              <a:t>التعريف: الرسم البياني (Graph) هو مجموعة من العقد </a:t>
            </a:r>
            <a:endParaRPr/>
          </a:p>
          <a:p>
            <a:pPr indent="-342900" lvl="0" marL="342900" rtl="1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Char char="❑"/>
            </a:pPr>
            <a:r>
              <a:rPr lang="en-CA" sz="1700"/>
              <a:t>(Vertices) والحواف (Edges) التي تربط بين هذه العقد.</a:t>
            </a:r>
            <a:endParaRPr/>
          </a:p>
          <a:p>
            <a:pPr indent="-342900" lvl="0" marL="3429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CA" sz="1800"/>
              <a:t>- الرؤوس (Vertices): تمثل الكيانات.</a:t>
            </a:r>
            <a:endParaRPr/>
          </a:p>
          <a:p>
            <a:pPr indent="-342900" lvl="0" marL="3429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CA" sz="1800"/>
              <a:t>- الحواف (Edges): تمثل العلاقات بين الكيانات.</a:t>
            </a:r>
            <a:endParaRPr sz="1800"/>
          </a:p>
          <a:p>
            <a:pPr indent="-342900" lvl="0" marL="3429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❑"/>
            </a:pPr>
            <a:r>
              <a:rPr lang="en-CA" sz="1800"/>
              <a:t>G= (V, E)</a:t>
            </a:r>
            <a:endParaRPr/>
          </a:p>
          <a:p>
            <a:pPr indent="-228600" lvl="0" marL="342900" rtl="1" algn="r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None/>
            </a:pPr>
            <a:r>
              <a:t/>
            </a:r>
            <a:endParaRPr sz="1800"/>
          </a:p>
          <a:p>
            <a:pPr indent="-234950" lvl="0" marL="342900" rtl="1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r>
              <a:t/>
            </a:r>
            <a:endParaRPr sz="1700"/>
          </a:p>
        </p:txBody>
      </p:sp>
      <p:sp>
        <p:nvSpPr>
          <p:cNvPr id="90" name="Google Shape;90;p1"/>
          <p:cNvSpPr/>
          <p:nvPr/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"/>
          <p:cNvSpPr/>
          <p:nvPr/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6" name="Google Shape;96;p2"/>
          <p:cNvGrpSpPr/>
          <p:nvPr/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97" name="Google Shape;97;p2"/>
            <p:cNvSpPr/>
            <p:nvPr/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8" name="Google Shape;98;p2"/>
            <p:cNvSpPr/>
            <p:nvPr/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2941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9" name="Google Shape;99;p2"/>
          <p:cNvGrpSpPr/>
          <p:nvPr/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100" name="Google Shape;100;p2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1" name="Google Shape;101;p2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02" name="Google Shape;102;p2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45652" r="0" t="0"/>
          <a:stretch/>
        </p:blipFill>
        <p:spPr>
          <a:xfrm>
            <a:off x="5031568" y="1613903"/>
            <a:ext cx="3269098" cy="15188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"/>
          <p:cNvPicPr preferRelativeResize="0"/>
          <p:nvPr/>
        </p:nvPicPr>
        <p:blipFill rotWithShape="1">
          <a:blip r:embed="rId3">
            <a:alphaModFix/>
          </a:blip>
          <a:srcRect b="0" l="5278" r="57592" t="0"/>
          <a:stretch/>
        </p:blipFill>
        <p:spPr>
          <a:xfrm>
            <a:off x="5031568" y="3715840"/>
            <a:ext cx="3269098" cy="222312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" name="Google Shape;104;p2"/>
          <p:cNvGrpSpPr/>
          <p:nvPr/>
        </p:nvGrpSpPr>
        <p:grpSpPr>
          <a:xfrm>
            <a:off x="-2136" y="0"/>
            <a:ext cx="9141717" cy="6858000"/>
            <a:chOff x="0" y="0"/>
            <a:chExt cx="12188952" cy="6858000"/>
          </a:xfrm>
        </p:grpSpPr>
        <p:sp>
          <p:nvSpPr>
            <p:cNvPr id="105" name="Google Shape;105;p2"/>
            <p:cNvSpPr/>
            <p:nvPr/>
          </p:nvSpPr>
          <p:spPr>
            <a:xfrm>
              <a:off x="26122" y="6015669"/>
              <a:ext cx="2605762" cy="842331"/>
            </a:xfrm>
            <a:custGeom>
              <a:rect b="b" l="l" r="r" t="t"/>
              <a:pathLst>
                <a:path extrusionOk="0" h="1033951" w="3180577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655184" y="5798001"/>
              <a:ext cx="2485581" cy="1059999"/>
            </a:xfrm>
            <a:custGeom>
              <a:rect b="b" l="l" r="r" t="t"/>
              <a:pathLst>
                <a:path extrusionOk="0" h="1050628" w="244976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3474720" y="0"/>
              <a:ext cx="6177282" cy="1778750"/>
            </a:xfrm>
            <a:custGeom>
              <a:rect b="b" l="l" r="r" t="t"/>
              <a:pathLst>
                <a:path extrusionOk="0" h="1849426" w="6386648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0" y="2390523"/>
              <a:ext cx="611491" cy="1421482"/>
            </a:xfrm>
            <a:custGeom>
              <a:rect b="b" l="l" r="r" t="t"/>
              <a:pathLst>
                <a:path extrusionOk="0" h="1429512" w="611491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792772" y="0"/>
              <a:ext cx="2423863" cy="1343767"/>
            </a:xfrm>
            <a:custGeom>
              <a:rect b="b" l="l" r="r" t="t"/>
              <a:pathLst>
                <a:path extrusionOk="0" h="1681468" w="3015964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0" name="Google Shape;110;p2"/>
            <p:cNvSpPr/>
            <p:nvPr/>
          </p:nvSpPr>
          <p:spPr>
            <a:xfrm>
              <a:off x="10946850" y="0"/>
              <a:ext cx="1242102" cy="2620884"/>
            </a:xfrm>
            <a:custGeom>
              <a:rect b="b" l="l" r="r" t="t"/>
              <a:pathLst>
                <a:path extrusionOk="0" h="2635689" w="1242102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2"/>
            <p:cNvSpPr/>
            <p:nvPr/>
          </p:nvSpPr>
          <p:spPr>
            <a:xfrm>
              <a:off x="0" y="0"/>
              <a:ext cx="1577788" cy="980141"/>
            </a:xfrm>
            <a:custGeom>
              <a:rect b="b" l="l" r="r" t="t"/>
              <a:pathLst>
                <a:path extrusionOk="0" h="795676" w="1471018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2"/>
          <p:cNvSpPr txBox="1"/>
          <p:nvPr>
            <p:ph type="title"/>
          </p:nvPr>
        </p:nvSpPr>
        <p:spPr>
          <a:xfrm>
            <a:off x="759483" y="1197809"/>
            <a:ext cx="3902992" cy="234962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Font typeface="Calibri"/>
              <a:buNone/>
            </a:pPr>
            <a:r>
              <a:rPr lang="en-CA" sz="4200">
                <a:solidFill>
                  <a:schemeClr val="lt1"/>
                </a:solidFill>
              </a:rPr>
              <a:t>Graph v Binary Search Tree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3"/>
          <p:cNvSpPr txBox="1"/>
          <p:nvPr>
            <p:ph type="title"/>
          </p:nvPr>
        </p:nvSpPr>
        <p:spPr>
          <a:xfrm>
            <a:off x="628650" y="365125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700"/>
              <a:buFont typeface="Calibri"/>
              <a:buNone/>
            </a:pPr>
            <a:r>
              <a:rPr lang="en-CA" sz="4700"/>
              <a:t>أنواع الرسوم البيانية</a:t>
            </a:r>
            <a:endParaRPr/>
          </a:p>
        </p:txBody>
      </p:sp>
      <p:sp>
        <p:nvSpPr>
          <p:cNvPr id="119" name="Google Shape;119;p3"/>
          <p:cNvSpPr/>
          <p:nvPr/>
        </p:nvSpPr>
        <p:spPr>
          <a:xfrm>
            <a:off x="501777" y="1677373"/>
            <a:ext cx="8140446" cy="18288"/>
          </a:xfrm>
          <a:custGeom>
            <a:rect b="b" l="l" r="r" t="t"/>
            <a:pathLst>
              <a:path extrusionOk="0" fill="none" h="18288" w="8140446">
                <a:moveTo>
                  <a:pt x="0" y="0"/>
                </a:moveTo>
                <a:cubicBezTo>
                  <a:pt x="94920" y="9103"/>
                  <a:pt x="287892" y="-4966"/>
                  <a:pt x="434157" y="0"/>
                </a:cubicBezTo>
                <a:cubicBezTo>
                  <a:pt x="580422" y="4966"/>
                  <a:pt x="943595" y="-14182"/>
                  <a:pt x="1193932" y="0"/>
                </a:cubicBezTo>
                <a:cubicBezTo>
                  <a:pt x="1444270" y="14182"/>
                  <a:pt x="1472129" y="5523"/>
                  <a:pt x="1628089" y="0"/>
                </a:cubicBezTo>
                <a:cubicBezTo>
                  <a:pt x="1784049" y="-5523"/>
                  <a:pt x="1962419" y="-17322"/>
                  <a:pt x="2225055" y="0"/>
                </a:cubicBezTo>
                <a:cubicBezTo>
                  <a:pt x="2487691" y="17322"/>
                  <a:pt x="2700681" y="1311"/>
                  <a:pt x="3066235" y="0"/>
                </a:cubicBezTo>
                <a:cubicBezTo>
                  <a:pt x="3431789" y="-1311"/>
                  <a:pt x="3405662" y="25081"/>
                  <a:pt x="3744605" y="0"/>
                </a:cubicBezTo>
                <a:cubicBezTo>
                  <a:pt x="4083548" y="-25081"/>
                  <a:pt x="4265111" y="-11945"/>
                  <a:pt x="4504380" y="0"/>
                </a:cubicBezTo>
                <a:cubicBezTo>
                  <a:pt x="4743649" y="11945"/>
                  <a:pt x="4860394" y="-2832"/>
                  <a:pt x="5101346" y="0"/>
                </a:cubicBezTo>
                <a:cubicBezTo>
                  <a:pt x="5342298" y="2832"/>
                  <a:pt x="5456387" y="23676"/>
                  <a:pt x="5779717" y="0"/>
                </a:cubicBezTo>
                <a:cubicBezTo>
                  <a:pt x="6103047" y="-23676"/>
                  <a:pt x="6270379" y="-37291"/>
                  <a:pt x="6620896" y="0"/>
                </a:cubicBezTo>
                <a:cubicBezTo>
                  <a:pt x="6971413" y="37291"/>
                  <a:pt x="6989068" y="24674"/>
                  <a:pt x="7136458" y="0"/>
                </a:cubicBezTo>
                <a:cubicBezTo>
                  <a:pt x="7283848" y="-24674"/>
                  <a:pt x="7752532" y="-22436"/>
                  <a:pt x="8140446" y="0"/>
                </a:cubicBezTo>
                <a:cubicBezTo>
                  <a:pt x="8140314" y="7702"/>
                  <a:pt x="8140234" y="13511"/>
                  <a:pt x="8140446" y="18288"/>
                </a:cubicBezTo>
                <a:cubicBezTo>
                  <a:pt x="7906329" y="-3043"/>
                  <a:pt x="7681180" y="27465"/>
                  <a:pt x="7543480" y="18288"/>
                </a:cubicBezTo>
                <a:cubicBezTo>
                  <a:pt x="7405780" y="9111"/>
                  <a:pt x="7216607" y="3660"/>
                  <a:pt x="7109323" y="18288"/>
                </a:cubicBezTo>
                <a:cubicBezTo>
                  <a:pt x="7002039" y="32916"/>
                  <a:pt x="6576231" y="42692"/>
                  <a:pt x="6430952" y="18288"/>
                </a:cubicBezTo>
                <a:cubicBezTo>
                  <a:pt x="6285673" y="-6116"/>
                  <a:pt x="6138840" y="34521"/>
                  <a:pt x="5915391" y="18288"/>
                </a:cubicBezTo>
                <a:cubicBezTo>
                  <a:pt x="5691942" y="2055"/>
                  <a:pt x="5459460" y="51666"/>
                  <a:pt x="5237020" y="18288"/>
                </a:cubicBezTo>
                <a:cubicBezTo>
                  <a:pt x="5014580" y="-15090"/>
                  <a:pt x="4747677" y="40449"/>
                  <a:pt x="4558650" y="18288"/>
                </a:cubicBezTo>
                <a:cubicBezTo>
                  <a:pt x="4369623" y="-3873"/>
                  <a:pt x="4146061" y="12568"/>
                  <a:pt x="3880279" y="18288"/>
                </a:cubicBezTo>
                <a:cubicBezTo>
                  <a:pt x="3614497" y="24008"/>
                  <a:pt x="3473808" y="-12908"/>
                  <a:pt x="3201909" y="18288"/>
                </a:cubicBezTo>
                <a:cubicBezTo>
                  <a:pt x="2930010" y="49484"/>
                  <a:pt x="2728175" y="-3430"/>
                  <a:pt x="2604943" y="18288"/>
                </a:cubicBezTo>
                <a:cubicBezTo>
                  <a:pt x="2481711" y="40006"/>
                  <a:pt x="2004334" y="26952"/>
                  <a:pt x="1845168" y="18288"/>
                </a:cubicBezTo>
                <a:cubicBezTo>
                  <a:pt x="1686003" y="9624"/>
                  <a:pt x="1375070" y="37580"/>
                  <a:pt x="1166797" y="18288"/>
                </a:cubicBezTo>
                <a:cubicBezTo>
                  <a:pt x="958524" y="-1004"/>
                  <a:pt x="342846" y="8880"/>
                  <a:pt x="0" y="18288"/>
                </a:cubicBezTo>
                <a:cubicBezTo>
                  <a:pt x="129" y="13298"/>
                  <a:pt x="-675" y="6857"/>
                  <a:pt x="0" y="0"/>
                </a:cubicBezTo>
                <a:close/>
              </a:path>
              <a:path extrusionOk="0" h="18288" w="8140446">
                <a:moveTo>
                  <a:pt x="0" y="0"/>
                </a:moveTo>
                <a:cubicBezTo>
                  <a:pt x="142435" y="-24533"/>
                  <a:pt x="380026" y="17447"/>
                  <a:pt x="596966" y="0"/>
                </a:cubicBezTo>
                <a:cubicBezTo>
                  <a:pt x="813906" y="-17447"/>
                  <a:pt x="830530" y="13462"/>
                  <a:pt x="1031123" y="0"/>
                </a:cubicBezTo>
                <a:cubicBezTo>
                  <a:pt x="1231716" y="-13462"/>
                  <a:pt x="1634038" y="0"/>
                  <a:pt x="1872303" y="0"/>
                </a:cubicBezTo>
                <a:cubicBezTo>
                  <a:pt x="2110568" y="0"/>
                  <a:pt x="2261934" y="-25727"/>
                  <a:pt x="2469269" y="0"/>
                </a:cubicBezTo>
                <a:cubicBezTo>
                  <a:pt x="2676604" y="25727"/>
                  <a:pt x="2790440" y="16284"/>
                  <a:pt x="3066235" y="0"/>
                </a:cubicBezTo>
                <a:cubicBezTo>
                  <a:pt x="3342030" y="-16284"/>
                  <a:pt x="3685603" y="41976"/>
                  <a:pt x="3907414" y="0"/>
                </a:cubicBezTo>
                <a:cubicBezTo>
                  <a:pt x="4129225" y="-41976"/>
                  <a:pt x="4177416" y="-7598"/>
                  <a:pt x="4422976" y="0"/>
                </a:cubicBezTo>
                <a:cubicBezTo>
                  <a:pt x="4668536" y="7598"/>
                  <a:pt x="5023499" y="-28058"/>
                  <a:pt x="5264155" y="0"/>
                </a:cubicBezTo>
                <a:cubicBezTo>
                  <a:pt x="5504811" y="28058"/>
                  <a:pt x="5703675" y="13288"/>
                  <a:pt x="6105335" y="0"/>
                </a:cubicBezTo>
                <a:cubicBezTo>
                  <a:pt x="6506995" y="-13288"/>
                  <a:pt x="6455516" y="-5124"/>
                  <a:pt x="6783705" y="0"/>
                </a:cubicBezTo>
                <a:cubicBezTo>
                  <a:pt x="7111894" y="5124"/>
                  <a:pt x="7512856" y="10604"/>
                  <a:pt x="8140446" y="0"/>
                </a:cubicBezTo>
                <a:cubicBezTo>
                  <a:pt x="8140458" y="8833"/>
                  <a:pt x="8140986" y="9830"/>
                  <a:pt x="8140446" y="18288"/>
                </a:cubicBezTo>
                <a:cubicBezTo>
                  <a:pt x="7959314" y="3345"/>
                  <a:pt x="7870113" y="10437"/>
                  <a:pt x="7706289" y="18288"/>
                </a:cubicBezTo>
                <a:cubicBezTo>
                  <a:pt x="7542465" y="26139"/>
                  <a:pt x="7157940" y="17482"/>
                  <a:pt x="6865109" y="18288"/>
                </a:cubicBezTo>
                <a:cubicBezTo>
                  <a:pt x="6572278" y="19094"/>
                  <a:pt x="6524256" y="38051"/>
                  <a:pt x="6349548" y="18288"/>
                </a:cubicBezTo>
                <a:cubicBezTo>
                  <a:pt x="6174840" y="-1475"/>
                  <a:pt x="5951624" y="174"/>
                  <a:pt x="5671177" y="18288"/>
                </a:cubicBezTo>
                <a:cubicBezTo>
                  <a:pt x="5390730" y="36402"/>
                  <a:pt x="5222992" y="60058"/>
                  <a:pt x="4829998" y="18288"/>
                </a:cubicBezTo>
                <a:cubicBezTo>
                  <a:pt x="4437004" y="-23482"/>
                  <a:pt x="4344181" y="39087"/>
                  <a:pt x="4151627" y="18288"/>
                </a:cubicBezTo>
                <a:cubicBezTo>
                  <a:pt x="3959073" y="-2511"/>
                  <a:pt x="3886970" y="32875"/>
                  <a:pt x="3717470" y="18288"/>
                </a:cubicBezTo>
                <a:cubicBezTo>
                  <a:pt x="3547970" y="3701"/>
                  <a:pt x="3451521" y="31872"/>
                  <a:pt x="3201909" y="18288"/>
                </a:cubicBezTo>
                <a:cubicBezTo>
                  <a:pt x="2952297" y="4704"/>
                  <a:pt x="2543413" y="6029"/>
                  <a:pt x="2360729" y="18288"/>
                </a:cubicBezTo>
                <a:cubicBezTo>
                  <a:pt x="2178045" y="30547"/>
                  <a:pt x="1906056" y="25847"/>
                  <a:pt x="1682359" y="18288"/>
                </a:cubicBezTo>
                <a:cubicBezTo>
                  <a:pt x="1458662" y="10730"/>
                  <a:pt x="1330405" y="8046"/>
                  <a:pt x="1166797" y="18288"/>
                </a:cubicBezTo>
                <a:cubicBezTo>
                  <a:pt x="1003189" y="28530"/>
                  <a:pt x="278098" y="19533"/>
                  <a:pt x="0" y="18288"/>
                </a:cubicBezTo>
                <a:cubicBezTo>
                  <a:pt x="74" y="14054"/>
                  <a:pt x="-46" y="699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3"/>
          <p:cNvSpPr txBox="1"/>
          <p:nvPr>
            <p:ph idx="1" type="body"/>
          </p:nvPr>
        </p:nvSpPr>
        <p:spPr>
          <a:xfrm>
            <a:off x="628650" y="1929384"/>
            <a:ext cx="7886700" cy="42519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CA" sz="1900"/>
              <a:t>1. الرسم البياني الموجه / Directed Graph:</a:t>
            </a:r>
            <a:endParaRPr/>
          </a:p>
          <a:p>
            <a:pPr indent="-342900" lvl="0" marL="342900" rtl="1" algn="r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CA" sz="1900"/>
              <a:t>- الحواف لها اتجاه محدد.</a:t>
            </a:r>
            <a:endParaRPr/>
          </a:p>
          <a:p>
            <a:pPr indent="-342900" lvl="0" marL="342900" rtl="1" algn="r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CA" sz="1900"/>
              <a:t>- مثال: شبكة الاتصالات.</a:t>
            </a:r>
            <a:endParaRPr/>
          </a:p>
          <a:p>
            <a:pPr indent="-342900" lvl="0" marL="342900" rtl="1" algn="r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CA" sz="1900"/>
              <a:t>2. الرسم البياني غير الموجه / Undirected Graph:</a:t>
            </a:r>
            <a:endParaRPr/>
          </a:p>
          <a:p>
            <a:pPr indent="-342900" lvl="0" marL="342900" rtl="1" algn="r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CA" sz="1900"/>
              <a:t>- الحواف ليس لها اتجاه.</a:t>
            </a:r>
            <a:endParaRPr/>
          </a:p>
          <a:p>
            <a:pPr indent="-342900" lvl="0" marL="342900" rtl="1" algn="r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CA" sz="1900"/>
              <a:t>- مثال: العلاقات الاجتماعية.</a:t>
            </a:r>
            <a:endParaRPr/>
          </a:p>
          <a:p>
            <a:pPr indent="-342900" lvl="0" marL="342900" rtl="1" algn="r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CA" sz="1900"/>
              <a:t>3. الرسم البياني ذو الوزن / Weighted Graph:</a:t>
            </a:r>
            <a:endParaRPr/>
          </a:p>
          <a:p>
            <a:pPr indent="-342900" lvl="0" marL="342900" rtl="1" algn="r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CA" sz="1900"/>
              <a:t>- الحواف لها وزن يمثل تكلفة أو مسافة.</a:t>
            </a:r>
            <a:endParaRPr/>
          </a:p>
          <a:p>
            <a:pPr indent="-342900" lvl="0" marL="342900" rtl="1" algn="r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CA" sz="1900"/>
              <a:t>4. الرسم البياني بدون وزن / Unweighted Graph:</a:t>
            </a:r>
            <a:endParaRPr/>
          </a:p>
          <a:p>
            <a:pPr indent="-342900" lvl="0" marL="342900" rtl="1" algn="r"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Char char="•"/>
            </a:pPr>
            <a:r>
              <a:rPr lang="en-CA" sz="1900"/>
              <a:t>- جميع الحواف متساوية.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"/>
          <p:cNvSpPr/>
          <p:nvPr/>
        </p:nvSpPr>
        <p:spPr>
          <a:xfrm>
            <a:off x="0" y="0"/>
            <a:ext cx="9143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" name="Google Shape;126;p4"/>
          <p:cNvGrpSpPr/>
          <p:nvPr/>
        </p:nvGrpSpPr>
        <p:grpSpPr>
          <a:xfrm rot="5400000">
            <a:off x="-2487838" y="2732147"/>
            <a:ext cx="5860051" cy="395784"/>
            <a:chOff x="6081624" y="1998368"/>
            <a:chExt cx="5613457" cy="782175"/>
          </a:xfrm>
        </p:grpSpPr>
        <p:sp>
          <p:nvSpPr>
            <p:cNvPr id="127" name="Google Shape;127;p4"/>
            <p:cNvSpPr/>
            <p:nvPr/>
          </p:nvSpPr>
          <p:spPr>
            <a:xfrm rot="5400000">
              <a:off x="11228040" y="2313027"/>
              <a:ext cx="781700" cy="152382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4"/>
            <p:cNvSpPr/>
            <p:nvPr/>
          </p:nvSpPr>
          <p:spPr>
            <a:xfrm rot="10800000">
              <a:off x="6081624" y="1998844"/>
              <a:ext cx="5372968" cy="7816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9" name="Google Shape;129;p4"/>
          <p:cNvSpPr/>
          <p:nvPr/>
        </p:nvSpPr>
        <p:spPr>
          <a:xfrm>
            <a:off x="434646" y="517897"/>
            <a:ext cx="8333796" cy="585796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 txBox="1"/>
          <p:nvPr>
            <p:ph type="title"/>
          </p:nvPr>
        </p:nvSpPr>
        <p:spPr>
          <a:xfrm>
            <a:off x="4400606" y="847827"/>
            <a:ext cx="4056610" cy="116958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Calibri"/>
              <a:buNone/>
            </a:pPr>
            <a:r>
              <a:rPr lang="en-CA" sz="3500"/>
              <a:t>أنواع الرسوم البيانية:</a:t>
            </a:r>
            <a:br>
              <a:rPr lang="en-CA" sz="3500"/>
            </a:br>
            <a:endParaRPr sz="3500"/>
          </a:p>
        </p:txBody>
      </p:sp>
      <p:pic>
        <p:nvPicPr>
          <p:cNvPr id="131" name="Google Shape;13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67998" y="4083807"/>
            <a:ext cx="3291840" cy="1818741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4"/>
          <p:cNvSpPr/>
          <p:nvPr/>
        </p:nvSpPr>
        <p:spPr>
          <a:xfrm flipH="1">
            <a:off x="4467998" y="2188548"/>
            <a:ext cx="3780769" cy="2743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85800" y="4186719"/>
            <a:ext cx="3291840" cy="1357883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4"/>
          <p:cNvSpPr txBox="1"/>
          <p:nvPr>
            <p:ph idx="1" type="body"/>
          </p:nvPr>
        </p:nvSpPr>
        <p:spPr>
          <a:xfrm>
            <a:off x="752455" y="2387116"/>
            <a:ext cx="4056610" cy="13768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34950" lvl="0" marL="342900" rt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Noto Sans Symbols"/>
              <a:buNone/>
            </a:pPr>
            <a:r>
              <a:t/>
            </a:r>
            <a:endParaRPr sz="1700"/>
          </a:p>
          <a:p>
            <a:pPr indent="-514350" lvl="0" marL="51435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arenR"/>
            </a:pPr>
            <a:r>
              <a:rPr lang="en-CA" sz="1700"/>
              <a:t>Directed موجهة   G=(A,B)</a:t>
            </a:r>
            <a:endParaRPr/>
          </a:p>
          <a:p>
            <a:pPr indent="-514350" lvl="0" marL="51435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Font typeface="Calibri"/>
              <a:buAutoNum type="arabicParenR"/>
            </a:pPr>
            <a:r>
              <a:rPr lang="en-CA" sz="1700"/>
              <a:t>Undirected وغير موجهة  G={A,B}</a:t>
            </a:r>
            <a:endParaRPr sz="1700"/>
          </a:p>
          <a:p>
            <a:pPr indent="0" lvl="0" marL="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"/>
          <p:cNvSpPr txBox="1"/>
          <p:nvPr>
            <p:ph type="title"/>
          </p:nvPr>
        </p:nvSpPr>
        <p:spPr>
          <a:xfrm>
            <a:off x="628650" y="800994"/>
            <a:ext cx="2765618" cy="205689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</a:pPr>
            <a:r>
              <a:rPr lang="en-CA" sz="2800"/>
              <a:t>Type</a:t>
            </a:r>
            <a:endParaRPr/>
          </a:p>
        </p:txBody>
      </p:sp>
      <p:sp>
        <p:nvSpPr>
          <p:cNvPr id="140" name="Google Shape;140;p5"/>
          <p:cNvSpPr txBox="1"/>
          <p:nvPr>
            <p:ph idx="1" type="body"/>
          </p:nvPr>
        </p:nvSpPr>
        <p:spPr>
          <a:xfrm>
            <a:off x="4006159" y="751555"/>
            <a:ext cx="4459530" cy="21063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1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CA" sz="1700"/>
              <a:t>- ذات وزن Weighted</a:t>
            </a:r>
            <a:endParaRPr/>
          </a:p>
          <a:p>
            <a:pPr indent="-342900" lvl="0" marL="342900" rtl="1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Char char="•"/>
            </a:pPr>
            <a:r>
              <a:rPr lang="en-CA" sz="1700"/>
              <a:t>وبدون وزن Unweighted</a:t>
            </a:r>
            <a:endParaRPr/>
          </a:p>
          <a:p>
            <a:pPr indent="-234950" lvl="0" marL="342900" rtl="0" algn="l">
              <a:spcBef>
                <a:spcPts val="340"/>
              </a:spcBef>
              <a:spcAft>
                <a:spcPts val="0"/>
              </a:spcAft>
              <a:buClr>
                <a:schemeClr val="dk1"/>
              </a:buClr>
              <a:buSzPts val="1700"/>
              <a:buNone/>
            </a:pPr>
            <a:r>
              <a:t/>
            </a:r>
            <a:endParaRPr sz="1700"/>
          </a:p>
        </p:txBody>
      </p:sp>
      <p:pic>
        <p:nvPicPr>
          <p:cNvPr id="141" name="Google Shape;141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78307" y="3089994"/>
            <a:ext cx="7787382" cy="3114953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42" name="Google Shape;142;p5"/>
          <p:cNvGrpSpPr/>
          <p:nvPr/>
        </p:nvGrpSpPr>
        <p:grpSpPr>
          <a:xfrm>
            <a:off x="-3768" y="6737718"/>
            <a:ext cx="9155399" cy="123363"/>
            <a:chOff x="-5025" y="6737718"/>
            <a:chExt cx="12207200" cy="123363"/>
          </a:xfrm>
        </p:grpSpPr>
        <p:sp>
          <p:nvSpPr>
            <p:cNvPr id="143" name="Google Shape;143;p5"/>
            <p:cNvSpPr/>
            <p:nvPr/>
          </p:nvSpPr>
          <p:spPr>
            <a:xfrm flipH="1" rot="5400000">
              <a:off x="6036894" y="695800"/>
              <a:ext cx="123362" cy="12207199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8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 rot="-5400000">
              <a:off x="9176406" y="3835311"/>
              <a:ext cx="123362" cy="5928176"/>
            </a:xfrm>
            <a:prstGeom prst="rect">
              <a:avLst/>
            </a:prstGeom>
            <a:gradFill>
              <a:gsLst>
                <a:gs pos="0">
                  <a:srgbClr val="4BACC6">
                    <a:alpha val="0"/>
                  </a:srgbClr>
                </a:gs>
                <a:gs pos="19000">
                  <a:srgbClr val="4BACC6">
                    <a:alpha val="0"/>
                  </a:srgbClr>
                </a:gs>
                <a:gs pos="100000">
                  <a:srgbClr val="92CCDC"/>
                </a:gs>
              </a:gsLst>
              <a:lin ang="6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6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6"/>
          <p:cNvSpPr txBox="1"/>
          <p:nvPr>
            <p:ph type="title"/>
          </p:nvPr>
        </p:nvSpPr>
        <p:spPr>
          <a:xfrm>
            <a:off x="479160" y="4501453"/>
            <a:ext cx="8182230" cy="1065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Calibri"/>
              <a:buNone/>
            </a:pPr>
            <a:r>
              <a:rPr lang="en-CA" sz="5700"/>
              <a:t>Graph Representation</a:t>
            </a:r>
            <a:endParaRPr/>
          </a:p>
        </p:txBody>
      </p:sp>
      <p:pic>
        <p:nvPicPr>
          <p:cNvPr id="151" name="Google Shape;151;p6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42569" l="0" r="0" t="18894"/>
          <a:stretch/>
        </p:blipFill>
        <p:spPr>
          <a:xfrm>
            <a:off x="240030" y="437168"/>
            <a:ext cx="4210812" cy="1087222"/>
          </a:xfrm>
          <a:prstGeom prst="rect">
            <a:avLst/>
          </a:prstGeom>
          <a:noFill/>
          <a:ln>
            <a:noFill/>
          </a:ln>
        </p:spPr>
      </p:pic>
      <p:pic>
        <p:nvPicPr>
          <p:cNvPr id="152" name="Google Shape;152;p6"/>
          <p:cNvPicPr preferRelativeResize="0"/>
          <p:nvPr/>
        </p:nvPicPr>
        <p:blipFill rotWithShape="1">
          <a:blip r:embed="rId3">
            <a:alphaModFix/>
          </a:blip>
          <a:srcRect b="0" l="19352" r="17593" t="59548"/>
          <a:stretch/>
        </p:blipFill>
        <p:spPr>
          <a:xfrm>
            <a:off x="240030" y="1773096"/>
            <a:ext cx="4210812" cy="1809882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6"/>
          <p:cNvSpPr/>
          <p:nvPr/>
        </p:nvSpPr>
        <p:spPr>
          <a:xfrm>
            <a:off x="3337560" y="5594358"/>
            <a:ext cx="2468880" cy="18288"/>
          </a:xfrm>
          <a:custGeom>
            <a:rect b="b" l="l" r="r" t="t"/>
            <a:pathLst>
              <a:path extrusionOk="0" fill="none" h="18288" w="246888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extrusionOk="0" h="18288" w="246888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4" name="Google Shape;154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783667" y="347232"/>
            <a:ext cx="4084707" cy="39284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7"/>
          <p:cNvSpPr txBox="1"/>
          <p:nvPr>
            <p:ph type="title"/>
          </p:nvPr>
        </p:nvSpPr>
        <p:spPr>
          <a:xfrm>
            <a:off x="479160" y="4501453"/>
            <a:ext cx="8182230" cy="1065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CA" sz="4800"/>
              <a:t>2 D arrays (Adjacency matrix )</a:t>
            </a:r>
            <a:endParaRPr/>
          </a:p>
        </p:txBody>
      </p:sp>
      <p:pic>
        <p:nvPicPr>
          <p:cNvPr descr="A diagram of a triangle&#10;&#10;Description automatically generated with medium confidence" id="161" name="Google Shape;161;p7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40030" y="793928"/>
            <a:ext cx="4210812" cy="294756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A screenshot of a computer&#10;&#10;Description automatically generated" id="162" name="Google Shape;162;p7"/>
          <p:cNvPicPr preferRelativeResize="0"/>
          <p:nvPr/>
        </p:nvPicPr>
        <p:blipFill rotWithShape="1">
          <a:blip r:embed="rId4">
            <a:alphaModFix/>
          </a:blip>
          <a:srcRect b="0" l="19352" r="17593" t="59548"/>
          <a:stretch/>
        </p:blipFill>
        <p:spPr>
          <a:xfrm>
            <a:off x="4690872" y="1362771"/>
            <a:ext cx="4210812" cy="180988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7"/>
          <p:cNvSpPr/>
          <p:nvPr/>
        </p:nvSpPr>
        <p:spPr>
          <a:xfrm>
            <a:off x="3337560" y="5594358"/>
            <a:ext cx="2468880" cy="18288"/>
          </a:xfrm>
          <a:custGeom>
            <a:rect b="b" l="l" r="r" t="t"/>
            <a:pathLst>
              <a:path extrusionOk="0" fill="none" h="18288" w="246888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extrusionOk="0" h="18288" w="246888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8"/>
          <p:cNvSpPr/>
          <p:nvPr/>
        </p:nvSpPr>
        <p:spPr>
          <a:xfrm>
            <a:off x="2288" y="0"/>
            <a:ext cx="9141712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9" name="Google Shape;169;p8"/>
          <p:cNvGrpSpPr/>
          <p:nvPr/>
        </p:nvGrpSpPr>
        <p:grpSpPr>
          <a:xfrm>
            <a:off x="-2136" y="0"/>
            <a:ext cx="9141711" cy="6858000"/>
            <a:chOff x="-2848" y="0"/>
            <a:chExt cx="12188949" cy="6858000"/>
          </a:xfrm>
        </p:grpSpPr>
        <p:sp>
          <p:nvSpPr>
            <p:cNvPr id="170" name="Google Shape;170;p8"/>
            <p:cNvSpPr/>
            <p:nvPr/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5">
                <a:alpha val="4784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8"/>
            <p:cNvSpPr/>
            <p:nvPr/>
          </p:nvSpPr>
          <p:spPr>
            <a:xfrm>
              <a:off x="-2848" y="0"/>
              <a:ext cx="12188949" cy="6858000"/>
            </a:xfrm>
            <a:prstGeom prst="rect">
              <a:avLst/>
            </a:prstGeom>
            <a:solidFill>
              <a:schemeClr val="accent6">
                <a:alpha val="12941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2" name="Google Shape;172;p8"/>
          <p:cNvGrpSpPr/>
          <p:nvPr/>
        </p:nvGrpSpPr>
        <p:grpSpPr>
          <a:xfrm>
            <a:off x="488459" y="598259"/>
            <a:ext cx="8167081" cy="5680742"/>
            <a:chOff x="651279" y="598259"/>
            <a:chExt cx="10889442" cy="5680742"/>
          </a:xfrm>
        </p:grpSpPr>
        <p:sp>
          <p:nvSpPr>
            <p:cNvPr id="173" name="Google Shape;173;p8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4" name="Google Shape;174;p8"/>
            <p:cNvSpPr/>
            <p:nvPr/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75" name="Google Shape;175;p8"/>
          <p:cNvPicPr preferRelativeResize="0"/>
          <p:nvPr/>
        </p:nvPicPr>
        <p:blipFill rotWithShape="1">
          <a:blip r:embed="rId3">
            <a:alphaModFix/>
          </a:blip>
          <a:srcRect b="86005" l="-247" r="21451" t="0"/>
          <a:stretch/>
        </p:blipFill>
        <p:spPr>
          <a:xfrm>
            <a:off x="719200" y="4906670"/>
            <a:ext cx="7699038" cy="1059999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8"/>
          <p:cNvPicPr preferRelativeResize="0"/>
          <p:nvPr>
            <p:ph idx="1" type="body"/>
          </p:nvPr>
        </p:nvPicPr>
        <p:blipFill rotWithShape="1">
          <a:blip r:embed="rId4">
            <a:alphaModFix/>
          </a:blip>
          <a:srcRect b="0" l="0" r="0" t="14536"/>
          <a:stretch/>
        </p:blipFill>
        <p:spPr>
          <a:xfrm>
            <a:off x="3579510" y="1130895"/>
            <a:ext cx="5076030" cy="2979977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77" name="Google Shape;177;p8"/>
          <p:cNvGrpSpPr/>
          <p:nvPr/>
        </p:nvGrpSpPr>
        <p:grpSpPr>
          <a:xfrm>
            <a:off x="-2136" y="0"/>
            <a:ext cx="9141717" cy="6858000"/>
            <a:chOff x="0" y="0"/>
            <a:chExt cx="12188952" cy="6858000"/>
          </a:xfrm>
        </p:grpSpPr>
        <p:sp>
          <p:nvSpPr>
            <p:cNvPr id="178" name="Google Shape;178;p8"/>
            <p:cNvSpPr/>
            <p:nvPr/>
          </p:nvSpPr>
          <p:spPr>
            <a:xfrm>
              <a:off x="26122" y="6015669"/>
              <a:ext cx="2605762" cy="842331"/>
            </a:xfrm>
            <a:custGeom>
              <a:rect b="b" l="l" r="r" t="t"/>
              <a:pathLst>
                <a:path extrusionOk="0" h="1033951" w="3180577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8"/>
            <p:cNvSpPr/>
            <p:nvPr/>
          </p:nvSpPr>
          <p:spPr>
            <a:xfrm>
              <a:off x="655184" y="5798001"/>
              <a:ext cx="2485581" cy="1059999"/>
            </a:xfrm>
            <a:custGeom>
              <a:rect b="b" l="l" r="r" t="t"/>
              <a:pathLst>
                <a:path extrusionOk="0" h="1050628" w="244976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lt1">
                <a:alpha val="2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0" name="Google Shape;180;p8"/>
            <p:cNvSpPr/>
            <p:nvPr/>
          </p:nvSpPr>
          <p:spPr>
            <a:xfrm>
              <a:off x="3474720" y="0"/>
              <a:ext cx="6177282" cy="1778750"/>
            </a:xfrm>
            <a:custGeom>
              <a:rect b="b" l="l" r="r" t="t"/>
              <a:pathLst>
                <a:path extrusionOk="0" h="1849426" w="6386648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lt1">
                <a:alpha val="4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8"/>
            <p:cNvSpPr/>
            <p:nvPr/>
          </p:nvSpPr>
          <p:spPr>
            <a:xfrm>
              <a:off x="0" y="2390523"/>
              <a:ext cx="611491" cy="1421482"/>
            </a:xfrm>
            <a:custGeom>
              <a:rect b="b" l="l" r="r" t="t"/>
              <a:pathLst>
                <a:path extrusionOk="0" h="1429512" w="611491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lt1">
                <a:alpha val="2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2" name="Google Shape;182;p8"/>
            <p:cNvSpPr/>
            <p:nvPr/>
          </p:nvSpPr>
          <p:spPr>
            <a:xfrm>
              <a:off x="3792772" y="0"/>
              <a:ext cx="2423863" cy="1343767"/>
            </a:xfrm>
            <a:custGeom>
              <a:rect b="b" l="l" r="r" t="t"/>
              <a:pathLst>
                <a:path extrusionOk="0" h="1681468" w="3015964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8"/>
            <p:cNvSpPr/>
            <p:nvPr/>
          </p:nvSpPr>
          <p:spPr>
            <a:xfrm>
              <a:off x="10946850" y="0"/>
              <a:ext cx="1242102" cy="2620884"/>
            </a:xfrm>
            <a:custGeom>
              <a:rect b="b" l="l" r="r" t="t"/>
              <a:pathLst>
                <a:path extrusionOk="0" h="2635689" w="1242102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lt1">
                <a:alpha val="9803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4" name="Google Shape;184;p8"/>
            <p:cNvSpPr/>
            <p:nvPr/>
          </p:nvSpPr>
          <p:spPr>
            <a:xfrm>
              <a:off x="0" y="0"/>
              <a:ext cx="1577788" cy="980141"/>
            </a:xfrm>
            <a:custGeom>
              <a:rect b="b" l="l" r="r" t="t"/>
              <a:pathLst>
                <a:path extrusionOk="0" h="795676" w="1471018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lt1">
                <a:alpha val="60000"/>
              </a:schemeClr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5" name="Google Shape;185;p8"/>
          <p:cNvSpPr txBox="1"/>
          <p:nvPr>
            <p:ph type="title"/>
          </p:nvPr>
        </p:nvSpPr>
        <p:spPr>
          <a:xfrm>
            <a:off x="759483" y="1197809"/>
            <a:ext cx="2788050" cy="186712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lang="en-CA" sz="4200">
                <a:solidFill>
                  <a:schemeClr val="lt1"/>
                </a:solidFill>
              </a:rPr>
              <a:t>1 D Array + Linked List (Adjacency List)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1"/>
          <p:cNvSpPr/>
          <p:nvPr/>
        </p:nvSpPr>
        <p:spPr>
          <a:xfrm>
            <a:off x="0" y="0"/>
            <a:ext cx="9141714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1"/>
          <p:cNvSpPr txBox="1"/>
          <p:nvPr>
            <p:ph type="title"/>
          </p:nvPr>
        </p:nvSpPr>
        <p:spPr>
          <a:xfrm>
            <a:off x="479160" y="457200"/>
            <a:ext cx="8182230" cy="136861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00"/>
              <a:buFont typeface="Calibri"/>
              <a:buNone/>
            </a:pPr>
            <a:r>
              <a:rPr lang="en-CA" sz="5700"/>
              <a:t>Traversal </a:t>
            </a:r>
            <a:endParaRPr/>
          </a:p>
        </p:txBody>
      </p:sp>
      <p:sp>
        <p:nvSpPr>
          <p:cNvPr id="192" name="Google Shape;192;p11"/>
          <p:cNvSpPr/>
          <p:nvPr/>
        </p:nvSpPr>
        <p:spPr>
          <a:xfrm>
            <a:off x="3337560" y="1850683"/>
            <a:ext cx="2468880" cy="18288"/>
          </a:xfrm>
          <a:custGeom>
            <a:rect b="b" l="l" r="r" t="t"/>
            <a:pathLst>
              <a:path extrusionOk="0" fill="none" h="18288" w="2468880">
                <a:moveTo>
                  <a:pt x="0" y="0"/>
                </a:moveTo>
                <a:cubicBezTo>
                  <a:pt x="171523" y="-1510"/>
                  <a:pt x="416079" y="20036"/>
                  <a:pt x="592531" y="0"/>
                </a:cubicBezTo>
                <a:cubicBezTo>
                  <a:pt x="768983" y="-20036"/>
                  <a:pt x="878305" y="13110"/>
                  <a:pt x="1160374" y="0"/>
                </a:cubicBezTo>
                <a:cubicBezTo>
                  <a:pt x="1442443" y="-13110"/>
                  <a:pt x="1612108" y="24695"/>
                  <a:pt x="1728216" y="0"/>
                </a:cubicBezTo>
                <a:cubicBezTo>
                  <a:pt x="1844324" y="-24695"/>
                  <a:pt x="2271040" y="20667"/>
                  <a:pt x="2468880" y="0"/>
                </a:cubicBezTo>
                <a:cubicBezTo>
                  <a:pt x="2468302" y="4771"/>
                  <a:pt x="2469633" y="12323"/>
                  <a:pt x="2468880" y="18288"/>
                </a:cubicBezTo>
                <a:cubicBezTo>
                  <a:pt x="2229297" y="-14659"/>
                  <a:pt x="2066775" y="30253"/>
                  <a:pt x="1802282" y="18288"/>
                </a:cubicBezTo>
                <a:cubicBezTo>
                  <a:pt x="1537789" y="6323"/>
                  <a:pt x="1379930" y="22266"/>
                  <a:pt x="1209751" y="18288"/>
                </a:cubicBezTo>
                <a:cubicBezTo>
                  <a:pt x="1039572" y="14310"/>
                  <a:pt x="837025" y="12850"/>
                  <a:pt x="641909" y="18288"/>
                </a:cubicBezTo>
                <a:cubicBezTo>
                  <a:pt x="446793" y="23726"/>
                  <a:pt x="170561" y="18472"/>
                  <a:pt x="0" y="18288"/>
                </a:cubicBezTo>
                <a:cubicBezTo>
                  <a:pt x="841" y="12879"/>
                  <a:pt x="-726" y="3977"/>
                  <a:pt x="0" y="0"/>
                </a:cubicBezTo>
                <a:close/>
              </a:path>
              <a:path extrusionOk="0" h="18288" w="2468880">
                <a:moveTo>
                  <a:pt x="0" y="0"/>
                </a:moveTo>
                <a:cubicBezTo>
                  <a:pt x="190931" y="24910"/>
                  <a:pt x="333688" y="11559"/>
                  <a:pt x="567842" y="0"/>
                </a:cubicBezTo>
                <a:cubicBezTo>
                  <a:pt x="801996" y="-11559"/>
                  <a:pt x="939971" y="-5677"/>
                  <a:pt x="1234440" y="0"/>
                </a:cubicBezTo>
                <a:cubicBezTo>
                  <a:pt x="1528909" y="5677"/>
                  <a:pt x="1658539" y="5184"/>
                  <a:pt x="1777594" y="0"/>
                </a:cubicBezTo>
                <a:cubicBezTo>
                  <a:pt x="1896649" y="-5184"/>
                  <a:pt x="2186164" y="23915"/>
                  <a:pt x="2468880" y="0"/>
                </a:cubicBezTo>
                <a:cubicBezTo>
                  <a:pt x="2468266" y="8857"/>
                  <a:pt x="2469384" y="13619"/>
                  <a:pt x="2468880" y="18288"/>
                </a:cubicBezTo>
                <a:cubicBezTo>
                  <a:pt x="2271330" y="36599"/>
                  <a:pt x="2001027" y="31554"/>
                  <a:pt x="1876349" y="18288"/>
                </a:cubicBezTo>
                <a:cubicBezTo>
                  <a:pt x="1751671" y="5022"/>
                  <a:pt x="1364652" y="15063"/>
                  <a:pt x="1209751" y="18288"/>
                </a:cubicBezTo>
                <a:cubicBezTo>
                  <a:pt x="1054850" y="21513"/>
                  <a:pt x="748438" y="20074"/>
                  <a:pt x="617220" y="18288"/>
                </a:cubicBezTo>
                <a:cubicBezTo>
                  <a:pt x="486002" y="16502"/>
                  <a:pt x="237432" y="27200"/>
                  <a:pt x="0" y="18288"/>
                </a:cubicBezTo>
                <a:cubicBezTo>
                  <a:pt x="-487" y="10816"/>
                  <a:pt x="-839" y="6058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93" name="Google Shape;193;p11"/>
          <p:cNvPicPr preferRelativeResize="0"/>
          <p:nvPr>
            <p:ph idx="2" type="body"/>
          </p:nvPr>
        </p:nvPicPr>
        <p:blipFill rotWithShape="1">
          <a:blip r:embed="rId3">
            <a:alphaModFix/>
          </a:blip>
          <a:srcRect b="0" l="0" r="44025" t="0"/>
          <a:stretch/>
        </p:blipFill>
        <p:spPr>
          <a:xfrm>
            <a:off x="4246197" y="1893840"/>
            <a:ext cx="4210812" cy="34604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11"/>
          <p:cNvPicPr preferRelativeResize="0"/>
          <p:nvPr/>
        </p:nvPicPr>
        <p:blipFill rotWithShape="1">
          <a:blip r:embed="rId3">
            <a:alphaModFix/>
          </a:blip>
          <a:srcRect b="53825" l="55832" r="0" t="0"/>
          <a:stretch/>
        </p:blipFill>
        <p:spPr>
          <a:xfrm>
            <a:off x="35385" y="2116820"/>
            <a:ext cx="3689948" cy="202503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9"/>
          <p:cNvSpPr/>
          <p:nvPr/>
        </p:nvSpPr>
        <p:spPr>
          <a:xfrm>
            <a:off x="0" y="651752"/>
            <a:ext cx="9144000" cy="736551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9"/>
          <p:cNvSpPr txBox="1"/>
          <p:nvPr>
            <p:ph type="title"/>
          </p:nvPr>
        </p:nvSpPr>
        <p:spPr>
          <a:xfrm>
            <a:off x="417399" y="643467"/>
            <a:ext cx="8408193" cy="74483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Calibri"/>
              <a:buNone/>
            </a:pPr>
            <a:r>
              <a:rPr lang="en-CA" sz="2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All Representation </a:t>
            </a:r>
            <a:endParaRPr/>
          </a:p>
        </p:txBody>
      </p:sp>
      <p:pic>
        <p:nvPicPr>
          <p:cNvPr id="201" name="Google Shape;201;p9"/>
          <p:cNvPicPr preferRelativeResize="0"/>
          <p:nvPr>
            <p:ph idx="1" type="body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87797" y="1675227"/>
            <a:ext cx="6368404" cy="43941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0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 txBox="1"/>
          <p:nvPr>
            <p:ph type="title"/>
          </p:nvPr>
        </p:nvSpPr>
        <p:spPr>
          <a:xfrm>
            <a:off x="473202" y="502920"/>
            <a:ext cx="256489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Calibri"/>
              <a:buNone/>
            </a:pPr>
            <a:r>
              <a:rPr lang="en-CA" sz="4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Graph Traversal </a:t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 rot="5400000">
            <a:off x="2480309" y="1227582"/>
            <a:ext cx="1554480" cy="13716"/>
          </a:xfrm>
          <a:custGeom>
            <a:rect b="b" l="l" r="r" t="t"/>
            <a:pathLst>
              <a:path extrusionOk="0" fill="none" h="13716" w="1554480">
                <a:moveTo>
                  <a:pt x="0" y="0"/>
                </a:moveTo>
                <a:cubicBezTo>
                  <a:pt x="114141" y="-19864"/>
                  <a:pt x="345055" y="-1657"/>
                  <a:pt x="549250" y="0"/>
                </a:cubicBezTo>
                <a:cubicBezTo>
                  <a:pt x="753445" y="1657"/>
                  <a:pt x="862292" y="-5674"/>
                  <a:pt x="1082954" y="0"/>
                </a:cubicBezTo>
                <a:cubicBezTo>
                  <a:pt x="1303616" y="5674"/>
                  <a:pt x="1363530" y="4537"/>
                  <a:pt x="1554480" y="0"/>
                </a:cubicBezTo>
                <a:cubicBezTo>
                  <a:pt x="1553820" y="4959"/>
                  <a:pt x="1554594" y="10798"/>
                  <a:pt x="1554480" y="13716"/>
                </a:cubicBezTo>
                <a:cubicBezTo>
                  <a:pt x="1338847" y="1555"/>
                  <a:pt x="1215066" y="33279"/>
                  <a:pt x="1067410" y="13716"/>
                </a:cubicBezTo>
                <a:cubicBezTo>
                  <a:pt x="919754" y="-5847"/>
                  <a:pt x="800465" y="-1492"/>
                  <a:pt x="549250" y="13716"/>
                </a:cubicBezTo>
                <a:cubicBezTo>
                  <a:pt x="298035" y="28924"/>
                  <a:pt x="158868" y="18197"/>
                  <a:pt x="0" y="13716"/>
                </a:cubicBezTo>
                <a:cubicBezTo>
                  <a:pt x="488" y="8630"/>
                  <a:pt x="480" y="6612"/>
                  <a:pt x="0" y="0"/>
                </a:cubicBezTo>
                <a:close/>
              </a:path>
              <a:path extrusionOk="0" h="13716" w="1554480">
                <a:moveTo>
                  <a:pt x="0" y="0"/>
                </a:moveTo>
                <a:cubicBezTo>
                  <a:pt x="249941" y="-58"/>
                  <a:pt x="367334" y="23448"/>
                  <a:pt x="502615" y="0"/>
                </a:cubicBezTo>
                <a:cubicBezTo>
                  <a:pt x="637897" y="-23448"/>
                  <a:pt x="813653" y="-20418"/>
                  <a:pt x="974141" y="0"/>
                </a:cubicBezTo>
                <a:cubicBezTo>
                  <a:pt x="1134629" y="20418"/>
                  <a:pt x="1268772" y="6288"/>
                  <a:pt x="1554480" y="0"/>
                </a:cubicBezTo>
                <a:cubicBezTo>
                  <a:pt x="1554232" y="4157"/>
                  <a:pt x="1554673" y="7559"/>
                  <a:pt x="1554480" y="13716"/>
                </a:cubicBezTo>
                <a:cubicBezTo>
                  <a:pt x="1336087" y="7600"/>
                  <a:pt x="1310024" y="15187"/>
                  <a:pt x="1067410" y="13716"/>
                </a:cubicBezTo>
                <a:cubicBezTo>
                  <a:pt x="824796" y="12246"/>
                  <a:pt x="787902" y="30075"/>
                  <a:pt x="518160" y="13716"/>
                </a:cubicBezTo>
                <a:cubicBezTo>
                  <a:pt x="248418" y="-2643"/>
                  <a:pt x="133160" y="4633"/>
                  <a:pt x="0" y="13716"/>
                </a:cubicBezTo>
                <a:cubicBezTo>
                  <a:pt x="43" y="9160"/>
                  <a:pt x="-111" y="4811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cap="rnd" cmpd="sng" w="41275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0"/>
          <p:cNvSpPr txBox="1"/>
          <p:nvPr>
            <p:ph idx="2" type="body"/>
          </p:nvPr>
        </p:nvSpPr>
        <p:spPr>
          <a:xfrm>
            <a:off x="3490721" y="502920"/>
            <a:ext cx="5170932" cy="146304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-228600" lvl="0" marL="3429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CA" sz="1900"/>
              <a:t>Breadth First Search (BFS) Uses Queue</a:t>
            </a:r>
            <a:endParaRPr/>
          </a:p>
          <a:p>
            <a:pPr indent="-228600" lvl="0" marL="342900" rtl="0" algn="l">
              <a:lnSpc>
                <a:spcPct val="90000"/>
              </a:lnSpc>
              <a:spcBef>
                <a:spcPts val="38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Char char="•"/>
            </a:pPr>
            <a:r>
              <a:rPr lang="en-CA" sz="1900"/>
              <a:t>Depth First Search(DFS) Uses Stack </a:t>
            </a:r>
            <a:endParaRPr/>
          </a:p>
        </p:txBody>
      </p:sp>
      <p:pic>
        <p:nvPicPr>
          <p:cNvPr id="210" name="Google Shape;210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73202" y="2438446"/>
            <a:ext cx="8188452" cy="366433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2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CA"/>
              <a:t>تطبيقات الرسوم </a:t>
            </a:r>
            <a:r>
              <a:rPr lang="en-CA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البيانية</a:t>
            </a:r>
            <a:endParaRPr/>
          </a:p>
        </p:txBody>
      </p:sp>
      <p:sp>
        <p:nvSpPr>
          <p:cNvPr id="216" name="Google Shape;216;p12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85000" lnSpcReduction="20000"/>
          </a:bodyPr>
          <a:lstStyle/>
          <a:p>
            <a:pPr indent="-342900" lvl="0" marL="342900" rtl="1" algn="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CA"/>
              <a:t>1. الشبكات الاجتماعية / Social Networks:</a:t>
            </a:r>
            <a:endParaRPr/>
          </a:p>
          <a:p>
            <a:pPr indent="-342900" lvl="0" marL="342900" rtl="1" algn="r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CA"/>
              <a:t>- العقد تمثل المستخدمين، والحواف تمثل العلاقات.</a:t>
            </a:r>
            <a:endParaRPr/>
          </a:p>
          <a:p>
            <a:pPr indent="-342900" lvl="0" marL="342900" rtl="1" algn="r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CA"/>
              <a:t>- مثال: تحليل المؤثرين.</a:t>
            </a:r>
            <a:endParaRPr/>
          </a:p>
          <a:p>
            <a:pPr indent="-342900" lvl="0" marL="342900" rtl="1" algn="r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CA"/>
              <a:t>2. الخرائط / Maps:</a:t>
            </a:r>
            <a:endParaRPr/>
          </a:p>
          <a:p>
            <a:pPr indent="-342900" lvl="0" marL="342900" rtl="1" algn="r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CA"/>
              <a:t>- العقد تمثل المواقع، والحواف تمثل الطرق.</a:t>
            </a:r>
            <a:endParaRPr/>
          </a:p>
          <a:p>
            <a:pPr indent="-342900" lvl="0" marL="342900" rtl="1" algn="r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CA"/>
              <a:t>- مثال: أقصر المسارات.</a:t>
            </a:r>
            <a:endParaRPr/>
          </a:p>
          <a:p>
            <a:pPr indent="-342900" lvl="0" marL="342900" rtl="1" algn="r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CA"/>
              <a:t>3. الويب / Web Navigation:</a:t>
            </a:r>
            <a:endParaRPr/>
          </a:p>
          <a:p>
            <a:pPr indent="-342900" lvl="0" marL="342900" rtl="1" algn="r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CA"/>
              <a:t>- العقد تمثل صفحات، والحواف تمثل الروابط.</a:t>
            </a:r>
            <a:endParaRPr/>
          </a:p>
          <a:p>
            <a:pPr indent="-342900" lvl="0" marL="342900" rtl="1" algn="r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CA"/>
              <a:t>4. الشبكات / Networks:</a:t>
            </a:r>
            <a:endParaRPr/>
          </a:p>
          <a:p>
            <a:pPr indent="-342900" lvl="0" marL="342900" rtl="1" algn="r">
              <a:spcBef>
                <a:spcPts val="544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CA"/>
              <a:t>- تحسين المسارات بين الأجهزة.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  <dc:creator>Mohamed Hawedi</dc:creator>
</cp:coreProperties>
</file>